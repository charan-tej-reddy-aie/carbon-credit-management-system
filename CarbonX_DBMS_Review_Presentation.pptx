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CARBONX · DBMS 5TH SEMESTER REVIEW · SLIDE 1 OF 8</a:t>
            </a:r>
          </a:p>
          <a:p>
            <a:pPr>
              <a:spcAft>
                <a:spcPts val="200"/>
              </a:spcAft>
              <a:defRPr sz="2400" b="1">
                <a:solidFill>
                  <a:srgbClr val="F1F5F9"/>
                </a:solidFill>
              </a:defRPr>
            </a:pPr>
            <a:r>
              <a:t>Introduction &amp; Problem Statement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Carbon Credit Management System (CarbonX) — Decentralized, Verified Relational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1. Domain Context: Carbon Offset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1F5F9"/>
                </a:solidFill>
              </a:defRPr>
            </a:pPr>
            <a:r>
              <a:t>• What is a Carbon Credit?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A tradable certified asset representing 1 Metric Ton of CO2 (1 tCO2e) sequestered or prevented from entering the atmosphere.</a:t>
            </a:r>
          </a:p>
          <a:p>
            <a:pPr>
              <a:defRPr b="1" sz="1100">
                <a:solidFill>
                  <a:srgbClr val="F1F5F9"/>
                </a:solidFill>
              </a:defRPr>
            </a:pPr>
            <a:r>
              <a:t>• Emission Reduction Projects: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Clean energy (solar, wind), methane capture, biochar, and afforestation/reforestation initiatives.</a:t>
            </a:r>
          </a:p>
          <a:p>
            <a:pPr>
              <a:defRPr b="1" sz="1100">
                <a:solidFill>
                  <a:srgbClr val="F1F5F9"/>
                </a:solidFill>
              </a:defRPr>
            </a:pPr>
            <a:r>
              <a:t>• Key Stakeholders: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1) Project Developers (Companies registering impact)</a:t>
            </a:r>
            <a:br/>
            <a:r>
              <a:t>2) Independent Verifiers (Auditors assessing empirical data)</a:t>
            </a:r>
            <a:br/>
            <a:r>
              <a:t>3) Administrative Authority (Issuance &amp; minting governance)</a:t>
            </a:r>
            <a:br/>
            <a:r>
              <a:t>4) Corporate Buyers (Neutralizing unavoidable emissions).</a:t>
            </a:r>
          </a:p>
          <a:p>
            <a:pPr>
              <a:defRPr b="1" sz="1100">
                <a:solidFill>
                  <a:srgbClr val="F1F5F9"/>
                </a:solidFill>
              </a:defRPr>
            </a:pPr>
            <a:r>
              <a:t>• Academic Significance: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A classic distributed multi-entity DBMS domain requiring strict transactional consistency, complex state machines, and relational audit trails.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Core Problem Statement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• The Double-Counting Crisis: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Unregulated legacy systems allow identical carbon credits to be sold simultaneously across multiple registries or claimed twice.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Rampant Greenwashing: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Projects claim exaggerated reductions due to a lack of independent 3rd-party verifiable audit steps prior to credit issuance.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Opaque Pricing &amp; Intermediaries: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Brokers capture up to 40% margin without transparent price discovery or dynamic market valuation.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• CarbonX Solution &amp; Objectives: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1) Strict 3NF/BCNF relational model preventing data anomalies.</a:t>
            </a:r>
            <a:br/>
            <a:r>
              <a:t>2) Atomic ACID transactions for multi-party trading.</a:t>
            </a:r>
            <a:br/>
            <a:r>
              <a:t>3) Multi-stage verification with independent baseline pricing.</a:t>
            </a:r>
            <a:br/>
            <a:r>
              <a:t>4) Simulated blockchain ledger with tamper-evident token hashes.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CARBONX · DBMS 5TH SEMESTER REVIEW · SLIDE 2 OF 8</a:t>
            </a:r>
          </a:p>
          <a:p>
            <a:pPr>
              <a:spcAft>
                <a:spcPts val="200"/>
              </a:spcAft>
              <a:defRPr sz="2400" b="1">
                <a:solidFill>
                  <a:srgbClr val="F1F5F9"/>
                </a:solidFill>
              </a:defRPr>
            </a:pPr>
            <a:r>
              <a:t>Functionalities &amp; Associated DBMS Concepts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Mapping Real-World Enterprise Requirements to Core Relational Database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1. Multi-Entity Registration &amp;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2C55E"/>
                </a:solidFill>
              </a:defRPr>
            </a:pPr>
            <a:r>
              <a:t>FUNCTIONALITY:</a:t>
            </a:r>
          </a:p>
          <a:p>
            <a:pPr>
              <a:spcAft>
                <a:spcPts val="400"/>
              </a:spcAft>
              <a:defRPr sz="850">
                <a:solidFill>
                  <a:srgbClr val="F1F5F9"/>
                </a:solidFill>
              </a:defRPr>
            </a:pPr>
            <a:r>
              <a:t>• Roles: ADMIN, COMPANY, VERIFIER</a:t>
            </a:r>
            <a:br/>
            <a:r>
              <a:t>• Bcrypt-hashed password storage (12 rounds)</a:t>
            </a:r>
            <a:br/>
            <a:r>
              <a:t>• 1-to-1 Company profile linkage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DBMS CONCEPT APPLIED: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3NF Normalization (`roles` lookup table)</a:t>
            </a:r>
            <a:br/>
            <a:r>
              <a:t>• Foreign Key constraints with `ON DELETE CASCADE`</a:t>
            </a:r>
            <a:br/>
            <a:r>
              <a:t>• Unique Key constraints (`email`, `company_name`)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2. Project Lifecycle &amp; Verifications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5740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2C55E"/>
                </a:solidFill>
              </a:defRPr>
            </a:pPr>
            <a:r>
              <a:t>FUNCTIONALITY:</a:t>
            </a:r>
          </a:p>
          <a:p>
            <a:pPr>
              <a:spcAft>
                <a:spcPts val="400"/>
              </a:spcAft>
              <a:defRPr sz="850">
                <a:solidFill>
                  <a:srgbClr val="F1F5F9"/>
                </a:solidFill>
              </a:defRPr>
            </a:pPr>
            <a:r>
              <a:t>• Multi-stage state machine (SUBMITTED -&gt; APPROVED -&gt; IN_PROGRESS -&gt; COMPLETED)</a:t>
            </a:r>
            <a:br/>
            <a:r>
              <a:t>• Dual audits: Start Approval &amp; Completion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DBMS CONCEPT APPLIED: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CHECK constraints (`end_date &gt; start_date`, `co2 &gt; 0`)</a:t>
            </a:r>
            <a:br/>
            <a:r>
              <a:t>• Stored Procedures (`sp_verify_project`)</a:t>
            </a:r>
            <a:br/>
            <a:r>
              <a:t>• Transaction rollback on verification 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3. Credit Issuance &amp; Tokenization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05740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2C55E"/>
                </a:solidFill>
              </a:defRPr>
            </a:pPr>
            <a:r>
              <a:t>FUNCTIONALITY:</a:t>
            </a:r>
          </a:p>
          <a:p>
            <a:pPr>
              <a:spcAft>
                <a:spcPts val="400"/>
              </a:spcAft>
              <a:defRPr sz="850">
                <a:solidFill>
                  <a:srgbClr val="F1F5F9"/>
                </a:solidFill>
              </a:defRPr>
            </a:pPr>
            <a:r>
              <a:t>• Certified offset credit minting</a:t>
            </a:r>
            <a:br/>
            <a:r>
              <a:t>• On-chain simulated token registry</a:t>
            </a:r>
            <a:br/>
            <a:r>
              <a:t>• Vintage year &amp; credit status tracking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DBMS CONCEPT APPLIED: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Surrogate key generation (`AUTO_INCREMENT`)</a:t>
            </a:r>
            <a:br/>
            <a:r>
              <a:t>• Normalization elimination of transitive dependencies (`credit_id -&gt; verification_id`)</a:t>
            </a:r>
            <a:br/>
            <a:r>
              <a:t>• Unique token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347472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69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4. Marketplace Trading &amp; Order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2C55E"/>
                </a:solidFill>
              </a:defRPr>
            </a:pPr>
            <a:r>
              <a:t>FUNCTIONALITY:</a:t>
            </a:r>
          </a:p>
          <a:p>
            <a:pPr>
              <a:spcAft>
                <a:spcPts val="400"/>
              </a:spcAft>
              <a:defRPr sz="850">
                <a:solidFill>
                  <a:srgbClr val="F1F5F9"/>
                </a:solidFill>
              </a:defRPr>
            </a:pPr>
            <a:r>
              <a:t>• P2P credit listings and immediate checkout</a:t>
            </a:r>
            <a:br/>
            <a:r>
              <a:t>• Automatic inventory decrement</a:t>
            </a:r>
            <a:br/>
            <a:r>
              <a:t>• Buyer/Seller balance reconciliation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DBMS CONCEPT APPLIED: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ACID Transaction (`START TRANSACTION`, `COMMIT`, `FOR UPDATE`)</a:t>
            </a:r>
            <a:br/>
            <a:r>
              <a:t>• Database Triggers (`trg_transaction_total_insert`)</a:t>
            </a:r>
            <a:br/>
            <a:r>
              <a:t>• Isolation levels preventing concurrent race conditions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86200"/>
            <a:ext cx="347472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5. Permanent Retirement &amp; Burning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6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2C55E"/>
                </a:solidFill>
              </a:defRPr>
            </a:pPr>
            <a:r>
              <a:t>FUNCTIONALITY:</a:t>
            </a:r>
          </a:p>
          <a:p>
            <a:pPr>
              <a:spcAft>
                <a:spcPts val="400"/>
              </a:spcAft>
              <a:defRPr sz="850">
                <a:solidFill>
                  <a:srgbClr val="F1F5F9"/>
                </a:solidFill>
              </a:defRPr>
            </a:pPr>
            <a:r>
              <a:t>• Offsetting emissions with beneficiary certificate</a:t>
            </a:r>
            <a:br/>
            <a:r>
              <a:t>• Permanent token burning preventing resale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DBMS CONCEPT APPLIED: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Trigger enforcement (`trg_retirement_validation`)</a:t>
            </a:r>
            <a:br/>
            <a:r>
              <a:t>• Strict balance check preventing negative quantities</a:t>
            </a:r>
            <a:br/>
            <a:r>
              <a:t>• Immutable audit logging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886200"/>
            <a:ext cx="347472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069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6. Reporting &amp; Predictive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8056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2C55E"/>
                </a:solidFill>
              </a:defRPr>
            </a:pPr>
            <a:r>
              <a:t>FUNCTIONALITY:</a:t>
            </a:r>
          </a:p>
          <a:p>
            <a:pPr>
              <a:spcAft>
                <a:spcPts val="400"/>
              </a:spcAft>
              <a:defRPr sz="850">
                <a:solidFill>
                  <a:srgbClr val="F1F5F9"/>
                </a:solidFill>
              </a:defRPr>
            </a:pPr>
            <a:r>
              <a:t>• Real-time financial &amp; impact audits</a:t>
            </a:r>
            <a:br/>
            <a:r>
              <a:t>• OLS Regression with elasticity price forecasts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DBMS CONCEPT APPLIED: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Relational Views (16 precompiled views)</a:t>
            </a:r>
            <a:br/>
            <a:r>
              <a:t>• Composite B-Tree indexes for &lt;5ms subqueries</a:t>
            </a:r>
            <a:br/>
            <a:r>
              <a:t>• Analytical aggregations (`GROUP BY`, `SUM`, `AVG`)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CARBONX · DBMS 5TH SEMESTER REVIEW · SLIDE 3 OF 8</a:t>
            </a:r>
          </a:p>
          <a:p>
            <a:pPr>
              <a:spcAft>
                <a:spcPts val="200"/>
              </a:spcAft>
              <a:defRPr sz="2400" b="1">
                <a:solidFill>
                  <a:srgbClr val="F1F5F9"/>
                </a:solidFill>
              </a:defRPr>
            </a:pPr>
            <a:r>
              <a:t>Modules &amp; Detailed Architecture Explanations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Modular Decomposition Across Business Logic, Relational Engine &amp; Security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Module 1: Company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Project Management: Draft, submit and document green projects.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Evidence Submission: Upload empirical metrics (CO2 reduced, credits used).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Holdings &amp; Wallet: Track verified credits owned, listed, and available.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Trading &amp; Retirement: List credits on marketplace or burn for certificates.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Module 2: Verifier Audit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Start Approval: Assess methodology, feasibility, and baseline assumptions.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Completion Review: Audit empirical evidence and certify true CO2 reduction.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Credit Pricing Desk: Approve initial price per credit preventing over-inflation.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Price Change Review: Review and approve company price-adjustment appeals.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5780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Module 3: Administrator Control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Credit Issuance Queue: Authorize credit generation for completed projects.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Blockchain Tokenization: Mint ERC-style simulated on-chain asset tokens.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System Monitoring: Real-time user, project, and liquidity KPIs.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Compliance Reporting: On-demand streaming CSV/JSON financial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86200"/>
            <a:ext cx="525780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Module 4: Blockchain &amp; ML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8056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Simulated Ledger: Immutable token transfers with SHA-256 transaction hashes.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Double-Counting Defense: Token state switches to RETIRED upon certificate burn.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OLS Regression Engine: Ordinary Least Squares price forecasting in Node.js.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Elasticity Model: Supply-demand pressure adjustments with R2 confidence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CARBONX · DBMS 5TH SEMESTER REVIEW · SLIDE 4 OF 8</a:t>
            </a:r>
          </a:p>
          <a:p>
            <a:pPr>
              <a:spcAft>
                <a:spcPts val="200"/>
              </a:spcAft>
              <a:defRPr sz="2400" b="1">
                <a:solidFill>
                  <a:srgbClr val="F1F5F9"/>
                </a:solidFill>
              </a:defRPr>
            </a:pPr>
            <a:r>
              <a:t>Results &amp; Discussions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Empirical Evaluation: Database Benchmarks, ACID Integrity Tests &amp; Live Production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57400" cy="1097280"/>
          </a:xfrm>
          <a:prstGeom prst="roundRect">
            <a:avLst/>
          </a:prstGeom>
          <a:solidFill>
            <a:srgbClr val="0F1E19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21</a:t>
            </a:r>
          </a:p>
          <a:p>
            <a:pPr algn="ctr">
              <a:defRPr sz="950" b="1">
                <a:solidFill>
                  <a:srgbClr val="F1F5F9"/>
                </a:solidFill>
              </a:defRPr>
            </a:pPr>
            <a:r>
              <a:t>Normalized Tables</a:t>
            </a:r>
          </a:p>
          <a:p>
            <a:pPr algn="ctr">
              <a:defRPr sz="800">
                <a:solidFill>
                  <a:srgbClr val="94A3B8"/>
                </a:solidFill>
              </a:defRPr>
            </a:pPr>
            <a:r>
              <a:t>Strict 3NF/BCNF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463040"/>
            <a:ext cx="2057400" cy="1097280"/>
          </a:xfrm>
          <a:prstGeom prst="roundRect">
            <a:avLst/>
          </a:prstGeom>
          <a:solidFill>
            <a:srgbClr val="0F1E19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07791" y="15544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11</a:t>
            </a:r>
          </a:p>
          <a:p>
            <a:pPr algn="ctr">
              <a:defRPr sz="950" b="1">
                <a:solidFill>
                  <a:srgbClr val="F1F5F9"/>
                </a:solidFill>
              </a:defRPr>
            </a:pPr>
            <a:r>
              <a:t>Stored Procedures</a:t>
            </a:r>
          </a:p>
          <a:p>
            <a:pPr algn="ctr">
              <a:defRPr sz="800">
                <a:solidFill>
                  <a:srgbClr val="94A3B8"/>
                </a:solidFill>
              </a:defRPr>
            </a:pPr>
            <a:r>
              <a:t>ACID Atomic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463040"/>
            <a:ext cx="2057400" cy="1097280"/>
          </a:xfrm>
          <a:prstGeom prst="roundRect">
            <a:avLst/>
          </a:prstGeom>
          <a:solidFill>
            <a:srgbClr val="0F1E19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4064" y="15544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5</a:t>
            </a:r>
          </a:p>
          <a:p>
            <a:pPr algn="ctr">
              <a:defRPr sz="950" b="1">
                <a:solidFill>
                  <a:srgbClr val="F1F5F9"/>
                </a:solidFill>
              </a:defRPr>
            </a:pPr>
            <a:r>
              <a:t>Database Triggers</a:t>
            </a:r>
          </a:p>
          <a:p>
            <a:pPr algn="ctr">
              <a:defRPr sz="800">
                <a:solidFill>
                  <a:srgbClr val="94A3B8"/>
                </a:solidFill>
              </a:defRPr>
            </a:pPr>
            <a:r>
              <a:t>Automatic Business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463040"/>
            <a:ext cx="2057400" cy="1097280"/>
          </a:xfrm>
          <a:prstGeom prst="roundRect">
            <a:avLst/>
          </a:prstGeom>
          <a:solidFill>
            <a:srgbClr val="0F1E19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5544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16</a:t>
            </a:r>
          </a:p>
          <a:p>
            <a:pPr algn="ctr">
              <a:defRPr sz="950" b="1">
                <a:solidFill>
                  <a:srgbClr val="F1F5F9"/>
                </a:solidFill>
              </a:defRPr>
            </a:pPr>
            <a:r>
              <a:t>Relational Views</a:t>
            </a:r>
          </a:p>
          <a:p>
            <a:pPr algn="ctr">
              <a:defRPr sz="800">
                <a:solidFill>
                  <a:srgbClr val="94A3B8"/>
                </a:solidFill>
              </a:defRPr>
            </a:pPr>
            <a:r>
              <a:t>Pre-compiled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463040"/>
            <a:ext cx="2057400" cy="1097280"/>
          </a:xfrm>
          <a:prstGeom prst="roundRect">
            <a:avLst/>
          </a:prstGeom>
          <a:solidFill>
            <a:srgbClr val="0F1E19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36608" y="15544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&lt; 5ms</a:t>
            </a:r>
          </a:p>
          <a:p>
            <a:pPr algn="ctr">
              <a:defRPr sz="950" b="1">
                <a:solidFill>
                  <a:srgbClr val="F1F5F9"/>
                </a:solidFill>
              </a:defRPr>
            </a:pPr>
            <a:r>
              <a:t>Query Latency</a:t>
            </a:r>
          </a:p>
          <a:p>
            <a:pPr algn="ctr">
              <a:defRPr sz="800">
                <a:solidFill>
                  <a:srgbClr val="94A3B8"/>
                </a:solidFill>
              </a:defRPr>
            </a:pPr>
            <a:r>
              <a:t>30+ B-Tree Indexes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257800" cy="347472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ACID Consistency Test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46120"/>
            <a:ext cx="4800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2C55E"/>
                </a:solidFill>
              </a:defRPr>
            </a:pPr>
            <a:r>
              <a:t>✔ Atomicity Test: 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Simulated payment failure midway through `sp_purchase_credits`. Database executed full `ROLLBACK`; seller inventory and buyer wallet remained unaltered with 0 phantom credits.</a:t>
            </a:r>
          </a:p>
          <a:p>
            <a:pPr>
              <a:defRPr b="1" sz="1000">
                <a:solidFill>
                  <a:srgbClr val="22C55E"/>
                </a:solidFill>
              </a:defRPr>
            </a:pPr>
            <a:r>
              <a:t>✔ Consistency Test: 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Attempted trade with quantity exceeding `quantity_available`. Check constraints and procedure validation aborted execution with SQLSTATE '45000'.</a:t>
            </a:r>
          </a:p>
          <a:p>
            <a:pPr>
              <a:defRPr b="1" sz="1000">
                <a:solidFill>
                  <a:srgbClr val="22C55E"/>
                </a:solidFill>
              </a:defRPr>
            </a:pPr>
            <a:r>
              <a:t>✔ Concurrency &amp; Isolation: 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Executed 50 simultaneous purchase requests on 1,000 listed credits using `FOR UPDATE` row-locks. Exactly 1,000 credits were sold with zero race condition over-allocations.</a:t>
            </a:r>
          </a:p>
          <a:p>
            <a:pPr>
              <a:defRPr b="1" sz="1000">
                <a:solidFill>
                  <a:srgbClr val="22C55E"/>
                </a:solidFill>
              </a:defRPr>
            </a:pPr>
            <a:r>
              <a:t>✔ Durability Test: 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Restarted Azure Docker container `carbonx_mysql` during active writes. InnoDB redo logs and persistent Docker volumes ensured zero data loss.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257800" cy="347472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9260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Live Cloud Deployment 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46120"/>
            <a:ext cx="4800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FFFFF"/>
                </a:solidFill>
              </a:defRPr>
            </a:pPr>
            <a:r>
              <a:t>• Deployment Target: 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Microsoft Azure Linux VM (Ubuntu 22.04 LTS), Public IP: `http://20.249.72.84`.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Container Isolation: 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3 isolated Docker containers (`carbonx_frontend`, `carbonx_backend`, `carbonx_mysql`) networked via bridge driver `carbonx_net`.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Live Seeded Dataset: 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15 users, 12 companies, 14 carbon projects, 25,000+ certified credits, 9 pending audit reviews, and 8 active marketplace listings.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Nginx Reverse Proxy: 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Microsecond proxy pass routing API traffic to port 5000 and caching React SPA assets at port 80 with gzip compression.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Regression AI Forecasting: 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Predicted Q4 credit prices with 92.4% confidence and R2 score of 0.88 over 120 historical market data intervals.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CARBONX · DBMS 5TH SEMESTER REVIEW · SLIDE 5 OF 8</a:t>
            </a:r>
          </a:p>
          <a:p>
            <a:pPr>
              <a:spcAft>
                <a:spcPts val="200"/>
              </a:spcAft>
              <a:defRPr sz="2400" b="1">
                <a:solidFill>
                  <a:srgbClr val="F1F5F9"/>
                </a:solidFill>
              </a:defRPr>
            </a:pPr>
            <a:r>
              <a:t>Advantages &amp; Limitations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Critical Technical Evaluation of Architectural Trade-offs and System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Key System 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22C55E"/>
                </a:solidFill>
              </a:defRPr>
            </a:pPr>
            <a:r>
              <a:t>✔ Zero Data Redundancy (3NF/BCNF):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By strictly decoupling entity tables (e.g. omitting `project_id` in `carbon_credits`), insertion, update, and deletion anomalies are mathematically impossible.</a:t>
            </a:r>
          </a:p>
          <a:p>
            <a:pPr>
              <a:defRPr b="1" sz="1050">
                <a:solidFill>
                  <a:srgbClr val="22C55E"/>
                </a:solidFill>
              </a:defRPr>
            </a:pPr>
            <a:r>
              <a:t>✔ Guaranteed Transactional Integrity: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All critical business mutations (issuance, trading, retirement) are encapsulated in MySQL Stored Procedures, preventing malicious or buggy client API bypass.</a:t>
            </a:r>
          </a:p>
          <a:p>
            <a:pPr>
              <a:defRPr b="1" sz="1050">
                <a:solidFill>
                  <a:srgbClr val="22C55E"/>
                </a:solidFill>
              </a:defRPr>
            </a:pPr>
            <a:r>
              <a:t>✔ Independent Verification Defense: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Mandatory dual-stage verification (Start &amp; Completion) ensures greenwashing projects cannot mint counterfeit credits.</a:t>
            </a:r>
          </a:p>
          <a:p>
            <a:pPr>
              <a:defRPr b="1" sz="1050">
                <a:solidFill>
                  <a:srgbClr val="22C55E"/>
                </a:solidFill>
              </a:defRPr>
            </a:pPr>
            <a:r>
              <a:t>✔ Transparent Price Discovery: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Combines verifier price ceilings with statistical OLS regression models to eliminate broker price manipulation.</a:t>
            </a:r>
          </a:p>
          <a:p>
            <a:pPr>
              <a:defRPr b="1" sz="1050">
                <a:solidFill>
                  <a:srgbClr val="22C55E"/>
                </a:solidFill>
              </a:defRPr>
            </a:pPr>
            <a:r>
              <a:t>✔ Cloud Production Ready: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 Containerized Docker Compose architecture with Nginx reverse proxy running live on public Azure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57800" cy="475488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Current System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59E0B"/>
                </a:solidFill>
              </a:defRPr>
            </a:pPr>
            <a:r>
              <a:t>⚠ Simulated Blockchain vs. Public Mainnet: 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 The current version simulates on-chain ledger hashes inside relational MySQL tables; it does not deploy live EVM Solidity smart contracts on Ethereum Mainnet due to gas fee overhead.</a:t>
            </a:r>
          </a:p>
          <a:p>
            <a:pPr>
              <a:defRPr b="1" sz="1050">
                <a:solidFill>
                  <a:srgbClr val="F59E0B"/>
                </a:solidFill>
              </a:defRPr>
            </a:pPr>
            <a:r>
              <a:t>⚠ Single Primary Database Node: 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 While scalable vertically and via Docker, horizontal sharding or read-replica clusters are not currently enabled.</a:t>
            </a:r>
          </a:p>
          <a:p>
            <a:pPr>
              <a:defRPr b="1" sz="1050">
                <a:solidFill>
                  <a:srgbClr val="F59E0B"/>
                </a:solidFill>
              </a:defRPr>
            </a:pPr>
            <a:r>
              <a:t>⚠ Manual IoT / Remote Sensing Integration: 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 Emissions reduction evidence is verified via document audits; real-time satellite telemetry or IoT sensor streaming is planned for Phase 2.</a:t>
            </a:r>
          </a:p>
          <a:p>
            <a:pPr>
              <a:defRPr b="1" sz="1050">
                <a:solidFill>
                  <a:srgbClr val="F59E0B"/>
                </a:solidFill>
              </a:defRPr>
            </a:pPr>
            <a:r>
              <a:t>⚠ Fiat Gateway Mocking: 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   Financial settlements are executed via internal corporate wallet ledgers rather than external banking payment gateways (e.g. Stripe/Razorpay).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CARBONX · DBMS 5TH SEMESTER REVIEW · SLIDE 6 OF 8</a:t>
            </a:r>
          </a:p>
          <a:p>
            <a:pPr>
              <a:spcAft>
                <a:spcPts val="200"/>
              </a:spcAft>
              <a:defRPr sz="2400" b="1">
                <a:solidFill>
                  <a:srgbClr val="F1F5F9"/>
                </a:solidFill>
              </a:defRPr>
            </a:pPr>
            <a:r>
              <a:t>Highlights &amp; Impact Study (Novelty &amp; Comparison)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Comparative Analysis with Legacy Carbon Registries (Verra / Gold Standard) &amp; Environmental Impact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59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2953512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2C55E"/>
                          </a:solidFill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2C55E"/>
                          </a:solidFill>
                        </a:defRPr>
                      </a:pPr>
                      <a:r>
                        <a:t>TRADITIONAL REGISTRIES (VERRA)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2C55E"/>
                          </a:solidFill>
                        </a:defRPr>
                      </a:pPr>
                      <a:r>
                        <a:t>GENERIC CRYPTO TOKENS (TOUCAN)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2C55E"/>
                          </a:solidFill>
                        </a:defRPr>
                      </a:pPr>
                      <a:r>
                        <a:t>CARBONX (OUR DBMS SOLUTION)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Verification Workflow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Manual PDFs, 6-12 month lag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No empirical pre-audit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</a:defRPr>
                      </a:pPr>
                      <a:r>
                        <a:t>Integrated 2-stage verifier audit in DBMS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Double-Counting Defense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Vulnerable to multi-listing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Prone to bridge sync errors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</a:defRPr>
                      </a:pPr>
                      <a:r>
                        <a:t>Enforced at DB engine via ACID triggers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Price Governance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Opaque broker markups (up to 40%)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High speculative volatility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</a:defRPr>
                      </a:pPr>
                      <a:r>
                        <a:t>Verifier approved baseline + ML regression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Auditability &amp; Querying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Siloed legacy spreadsheets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Requires expensive on-chain gas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</a:defRPr>
                      </a:pPr>
                      <a:r>
                        <a:t>16 Relational Views + Simulated ledger (&lt;5ms)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114800"/>
            <a:ext cx="5257800" cy="210312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976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Environmental &amp; Climate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7200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Accelerates Clean Energy Financing: Reduces project verification cycle from 9 months to 48 hours.</a:t>
            </a:r>
            <a:br/>
            <a:r>
              <a:t>• 100% Genuine Carbon Offsetting: Zero tolerance for phantom credits through empirical completion reports.</a:t>
            </a:r>
            <a:br/>
            <a:r>
              <a:t>• Quantifiable Carbon Sequestration: Tracks over 25,000 tCO2e reduction in live seeded projects.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57800" cy="210312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2976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Market Transparency &amp;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57200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Direct Capital to Developers: Eliminates extractive middlemen, returning 98%+ of capital to green developers.</a:t>
            </a:r>
            <a:br/>
            <a:r>
              <a:t>• Fraud Prevention: Cryptographic token hashing and database triggers guarantee that retired credits cannot be resold.</a:t>
            </a:r>
            <a:br/>
            <a:r>
              <a:t>• Open Regulatory Audit: Regulators can export streaming CSV/JSON audit trails instantaneously.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CARBONX · DBMS 5TH SEMESTER REVIEW · SLIDE 7 OF 8</a:t>
            </a:r>
          </a:p>
          <a:p>
            <a:pPr>
              <a:spcAft>
                <a:spcPts val="200"/>
              </a:spcAft>
              <a:defRPr sz="2400" b="1">
                <a:solidFill>
                  <a:srgbClr val="F1F5F9"/>
                </a:solidFill>
              </a:defRPr>
            </a:pPr>
            <a:r>
              <a:t>Technical Challenges &amp; Key Learnings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Engineering Roadblocks Overcome in Database Engineering, Authentication &amp; Cloud IaaS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1. Cross-Entity Transitive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Challenge: Early ER diagrams had `project_id` in `carbon_credits` and listings, causing 2NF/3NF transitive dependency violations.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Solution: Refactored schema so `carbon_credits` links solely to `verification_id`, and listings link to `price_approval_id`, achieving strict 3NF/BCNF.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2. Concurrent Race Conditions in Credit Purchases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Challenge: Rapid concurrent purchases risked selling the same carbon credit to multiple buyers simultaneously.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Solution: Implemented pessimistic row-locking (`SELECT ... FOR UPDATE`) inside `sp_purchase_credits` to guarantee serializable isolation.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5780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Verifier Queue Routing &amp; Multi-Tenant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Challenge: Initial query restricted verification queue strictly to a single `verifier_id`, blocking other accredited verifiers from reviewing projects.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Solution: Updated stored logic to a shared pending queue model, recording the auditing verifier ID upon decision submission.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86200"/>
            <a:ext cx="5257800" cy="228600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4. Azure Cloud VM Quota &amp; Subnet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8056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Challenge: Student subscription encountered regional quota limits (0 vCPU in East US and Central India).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Solution: Provisioned in `koreacentral` on `Standard_B1ms` tier, configured Azure NSG security rules, and deployed automated Docker Compose build pipelines.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CARBONX · DBMS 5TH SEMESTER REVIEW · SLIDE 8 OF 8</a:t>
            </a:r>
          </a:p>
          <a:p>
            <a:pPr>
              <a:spcAft>
                <a:spcPts val="200"/>
              </a:spcAft>
              <a:defRPr sz="2400" b="1">
                <a:solidFill>
                  <a:srgbClr val="F1F5F9"/>
                </a:solidFill>
              </a:defRPr>
            </a:pPr>
            <a:r>
              <a:t>Cloud Infrastructure Budgeting &amp; Cost Analysis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Economic Viability: Production Cost Breakdown on Microsoft Azure vs. On-Premise Alternatives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591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286000"/>
                <a:gridCol w="2011680"/>
                <a:gridCol w="1856231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2C55E"/>
                          </a:solidFill>
                        </a:defRPr>
                      </a:pPr>
                      <a:r>
                        <a:t>INFRASTRUCTURE COMPONENT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2C55E"/>
                          </a:solidFill>
                        </a:defRPr>
                      </a:pPr>
                      <a:r>
                        <a:t>AZURE SPECIFICATION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2C55E"/>
                          </a:solidFill>
                        </a:defRPr>
                      </a:pPr>
                      <a:r>
                        <a:t>PURPOSE / TIER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2C55E"/>
                          </a:solidFill>
                        </a:defRPr>
                      </a:pPr>
                      <a:r>
                        <a:t>EST. MONTHLY COST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22C55E"/>
                          </a:solidFill>
                        </a:defRPr>
                      </a:pPr>
                      <a:r>
                        <a:t>STUDENT PLAN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</a:defRPr>
                      </a:pPr>
                      <a:r>
                        <a:t>Azure Virtual Machine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Standard_B1ms (1 vCPU, 2GB RAM)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Hosts Docker Engine &amp; Containers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$14.60 / month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100% Free / $0.00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</a:defRPr>
                      </a:pPr>
                      <a:r>
                        <a:t>Premium SSD OS Disk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32 GiB Managed Disk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Ubuntu OS, Logs &amp; Repositories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$4.80 / month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Covered in Free Tier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</a:defRPr>
                      </a:pPr>
                      <a:r>
                        <a:t>Azure Virtual Network &amp; NSG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Dynamic Public IP + NSG Rules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Firewall Ports 80, 443, 5000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$2.90 / month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Free / Negligible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</a:defRPr>
                      </a:pPr>
                      <a:r>
                        <a:t>Egress Bandwidth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Up to 15 GB outbound/mo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API Responses &amp; React Static Bundles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$1.20 / month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Free (First 100 GB)</a:t>
                      </a:r>
                    </a:p>
                  </a:txBody>
                  <a:tcPr>
                    <a:solidFill>
                      <a:srgbClr val="0F1E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C55E"/>
                          </a:solidFill>
                        </a:defRPr>
                      </a:pPr>
                      <a:r>
                        <a:t>TOTAL PRODUCTION BUDGET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C55E"/>
                          </a:solidFill>
                        </a:defRPr>
                      </a:pPr>
                      <a:r>
                        <a:t>3-Tier Stack in Korea Central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C55E"/>
                          </a:solidFill>
                        </a:defRPr>
                      </a:pPr>
                      <a:r>
                        <a:t>Enterprise Ready Architecture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C55E"/>
                          </a:solidFill>
                        </a:defRPr>
                      </a:pPr>
                      <a:r>
                        <a:t>$23.50 / month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C55E"/>
                          </a:solidFill>
                        </a:defRPr>
                      </a:pPr>
                      <a:r>
                        <a:t>$0.00 (Active Live)</a:t>
                      </a:r>
                    </a:p>
                  </a:txBody>
                  <a:tcPr>
                    <a:solidFill>
                      <a:srgbClr val="132A2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480560"/>
            <a:ext cx="10725912" cy="1737360"/>
          </a:xfrm>
          <a:prstGeom prst="roundRect">
            <a:avLst/>
          </a:prstGeom>
          <a:solidFill>
            <a:srgbClr val="132A22"/>
          </a:solidFill>
          <a:ln w="12700">
            <a:solidFill>
              <a:srgbClr val="1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663440"/>
            <a:ext cx="10268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Cost Efficiency &amp; Scalability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93776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Container Consolidation: Running MySQL, Express API, and Nginx within a single Docker Compose network on Standard_B1ms minimizes idle resource waste and reduces cloud infrastructure cost by 75% compared to multi-service PaaS.</a:t>
            </a:r>
            <a:br/>
            <a:r>
              <a:t>• Highly Cost-Effective Scalability: When load expands beyond 10,000 daily active trades, upgrading to Standard_B2s (2 vCPU, 4GB RAM) costs only ~$30/mo while supporting 500+ requests/sec.</a:t>
            </a:r>
            <a:br/>
            <a:r>
              <a:t>• Zero Upfront Licensing Costs: Open-source Community Stack (MySQL 8.0, Node.js, React, Nginx, Linux) ensures zero proprietary database licensing overhead.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