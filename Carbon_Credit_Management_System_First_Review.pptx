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A441"/>
    <a:srgbClr val="268484"/>
    <a:srgbClr val="2678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300" y="-3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8869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900" b="1">
                <a:solidFill>
                  <a:srgbClr val="19362B"/>
                </a:solidFill>
                <a:latin typeface="Aptos"/>
              </a:defRPr>
            </a:pPr>
            <a:r>
              <a:t>Intelligent Carbon Credit</a:t>
            </a:r>
            <a:br/>
            <a:r>
              <a:t>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67853"/>
                </a:solidFill>
                <a:latin typeface="Aptos"/>
              </a:defRPr>
            </a:pPr>
            <a:r>
              <a:t>Database + Blockchain + Predictive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703320"/>
            <a:ext cx="2331720" cy="502920"/>
          </a:xfrm>
          <a:prstGeom prst="roundRect">
            <a:avLst/>
          </a:prstGeom>
          <a:solidFill>
            <a:srgbClr val="267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DBMS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C6963"/>
                </a:solidFill>
                <a:latin typeface="Aptos"/>
              </a:defRPr>
            </a:pPr>
            <a:r>
              <a:t>First Review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7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9362B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C696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C6963"/>
                </a:solidFill>
                <a:latin typeface="Aptos"/>
              </a:defRPr>
            </a:pPr>
            <a:r>
              <a:t>Carbon Credit Management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25880"/>
            <a:ext cx="34290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64008" cy="3474720"/>
          </a:xfrm>
          <a:prstGeom prst="rect">
            <a:avLst/>
          </a:prstGeom>
          <a:solidFill>
            <a:srgbClr val="267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4904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362B"/>
                </a:solidFill>
                <a:latin typeface="Aptos"/>
              </a:defRPr>
            </a:pPr>
            <a:r>
              <a:t>Centralized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92807"/>
            <a:ext cx="310896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963"/>
                </a:solidFill>
                <a:latin typeface="Aptos"/>
              </a:defRPr>
            </a:pPr>
            <a:r>
              <a:t>Manages carbon projects, verification, credit generation, marketplace activity and transactions.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25880"/>
            <a:ext cx="34290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325880"/>
            <a:ext cx="64008" cy="3474720"/>
          </a:xfrm>
          <a:prstGeom prst="rect">
            <a:avLst/>
          </a:prstGeom>
          <a:solidFill>
            <a:srgbClr val="26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4904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362B"/>
                </a:solidFill>
                <a:latin typeface="Aptos"/>
              </a:defRPr>
            </a:pPr>
            <a:r>
              <a:t>Multiple stakeholders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92807"/>
            <a:ext cx="310896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963"/>
                </a:solidFill>
                <a:latin typeface="Aptos"/>
              </a:defRPr>
            </a:pPr>
            <a:r>
              <a:t>Connects companies/project owners, verifiers, buyers and administrators through role-based workflows.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325880"/>
            <a:ext cx="34290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325880"/>
            <a:ext cx="64008" cy="3474720"/>
          </a:xfrm>
          <a:prstGeom prst="rect">
            <a:avLst/>
          </a:prstGeom>
          <a:solidFill>
            <a:srgbClr val="DB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19" y="14904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362B"/>
                </a:solidFill>
                <a:latin typeface="Aptos"/>
              </a:defRPr>
            </a:pPr>
            <a:r>
              <a:t>Technology layers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1892807"/>
            <a:ext cx="310896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963"/>
                </a:solidFill>
                <a:latin typeface="Aptos"/>
              </a:defRPr>
            </a:pPr>
            <a:r>
              <a:t>Uses MySQL for structured application data, blockchain for token ownership, and AI/ML for price prediction and analytics.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9362B"/>
                </a:solidFill>
                <a:latin typeface="Aptos"/>
              </a:defRPr>
            </a:pPr>
            <a:r>
              <a:t>The system is designed to manage the carbon-credit lifecycle from project creation to marketplace activity and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7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9362B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C696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C6963"/>
                </a:solidFill>
                <a:latin typeface="Aptos"/>
              </a:defRPr>
            </a:pPr>
            <a:r>
              <a:t>Carbon Credit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25880"/>
            <a:ext cx="6400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9362B"/>
                </a:solidFill>
                <a:latin typeface="Aptos"/>
              </a:defRPr>
            </a:pPr>
            <a:r>
              <a:rPr dirty="0"/>
              <a:t>• Carbon-project information needs centralized management.</a:t>
            </a:r>
          </a:p>
          <a:p>
            <a:pPr>
              <a:spcAft>
                <a:spcPts val="600"/>
              </a:spcAft>
              <a:defRPr sz="1800">
                <a:solidFill>
                  <a:srgbClr val="19362B"/>
                </a:solidFill>
                <a:latin typeface="Aptos"/>
              </a:defRPr>
            </a:pPr>
            <a:r>
              <a:rPr dirty="0"/>
              <a:t>• Verification must be controlled according to stakeholder roles.</a:t>
            </a:r>
          </a:p>
          <a:p>
            <a:pPr>
              <a:spcAft>
                <a:spcPts val="600"/>
              </a:spcAft>
              <a:defRPr sz="1800">
                <a:solidFill>
                  <a:srgbClr val="19362B"/>
                </a:solidFill>
                <a:latin typeface="Aptos"/>
              </a:defRPr>
            </a:pPr>
            <a:r>
              <a:rPr dirty="0"/>
              <a:t>• Carbon credits need traceable generation and ownership.</a:t>
            </a:r>
          </a:p>
          <a:p>
            <a:pPr>
              <a:spcAft>
                <a:spcPts val="600"/>
              </a:spcAft>
              <a:defRPr sz="1800">
                <a:solidFill>
                  <a:srgbClr val="19362B"/>
                </a:solidFill>
                <a:latin typeface="Aptos"/>
              </a:defRPr>
            </a:pPr>
            <a:r>
              <a:rPr dirty="0"/>
              <a:t>• Buyers need a marketplace to discover and purchase credits.</a:t>
            </a:r>
          </a:p>
          <a:p>
            <a:pPr>
              <a:spcAft>
                <a:spcPts val="600"/>
              </a:spcAft>
              <a:defRPr sz="1800">
                <a:solidFill>
                  <a:srgbClr val="19362B"/>
                </a:solidFill>
                <a:latin typeface="Aptos"/>
              </a:defRPr>
            </a:pPr>
            <a:r>
              <a:rPr dirty="0"/>
              <a:t>• Transactions require reliable database records.</a:t>
            </a:r>
          </a:p>
          <a:p>
            <a:pPr>
              <a:spcAft>
                <a:spcPts val="600"/>
              </a:spcAft>
              <a:defRPr sz="1800">
                <a:solidFill>
                  <a:srgbClr val="19362B"/>
                </a:solidFill>
                <a:latin typeface="Aptos"/>
              </a:defRPr>
            </a:pPr>
            <a:r>
              <a:rPr dirty="0"/>
              <a:t>• Future market-price information can support better decision making.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44780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543800" y="1461516"/>
            <a:ext cx="64008" cy="1143000"/>
          </a:xfrm>
          <a:prstGeom prst="rect">
            <a:avLst/>
          </a:prstGeom>
          <a:solidFill>
            <a:srgbClr val="B8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26679" y="15819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362B"/>
                </a:solidFill>
                <a:latin typeface="Aptos"/>
              </a:defRPr>
            </a:pPr>
            <a:r>
              <a:rPr dirty="0"/>
              <a:t>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35824" y="1850898"/>
            <a:ext cx="32004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963"/>
                </a:solidFill>
                <a:latin typeface="Aptos"/>
              </a:defRPr>
            </a:pPr>
            <a:r>
              <a:rPr dirty="0"/>
              <a:t>Project, verification, ownership and transaction information span multiple stages.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297180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543800" y="2971800"/>
            <a:ext cx="64008" cy="1143000"/>
          </a:xfrm>
          <a:prstGeom prst="rect">
            <a:avLst/>
          </a:prstGeom>
          <a:solidFill>
            <a:srgbClr val="DB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26679" y="31363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362B"/>
                </a:solidFill>
                <a:latin typeface="Aptos"/>
              </a:defRPr>
            </a:pPr>
            <a:r>
              <a:t>Need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3456562"/>
            <a:ext cx="32004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963"/>
                </a:solidFill>
                <a:latin typeface="Aptos"/>
              </a:defRPr>
            </a:pPr>
            <a:r>
              <a:rPr dirty="0"/>
              <a:t>A connected workflow using database, </a:t>
            </a:r>
            <a:r>
              <a:rPr dirty="0" err="1"/>
              <a:t>blockchain</a:t>
            </a:r>
            <a:r>
              <a:rPr dirty="0"/>
              <a:t> and analytics.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452628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543800" y="4526280"/>
            <a:ext cx="64008" cy="1143000"/>
          </a:xfrm>
          <a:prstGeom prst="rect">
            <a:avLst/>
          </a:prstGeom>
          <a:solidFill>
            <a:srgbClr val="267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26679" y="46908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362B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5041812"/>
            <a:ext cx="32004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963"/>
                </a:solidFill>
                <a:latin typeface="Aptos"/>
              </a:defRPr>
            </a:pPr>
            <a:r>
              <a:rPr dirty="0"/>
              <a:t>Provide a centralized platform with traceability and predictive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7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9362B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C6963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C6963"/>
                </a:solidFill>
                <a:latin typeface="Aptos"/>
              </a:defRPr>
            </a:pPr>
            <a:r>
              <a:t>Carbon Credit Management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463040"/>
            <a:ext cx="10149840" cy="3566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67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371600" y="1810512"/>
            <a:ext cx="2057400" cy="475488"/>
          </a:xfrm>
          <a:prstGeom prst="roundRect">
            <a:avLst/>
          </a:prstGeom>
          <a:solidFill>
            <a:srgbClr val="267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883664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MAIN 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651760"/>
            <a:ext cx="9144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9362B"/>
                </a:solidFill>
                <a:latin typeface="Aptos"/>
              </a:defRPr>
            </a:pPr>
            <a:r>
              <a:t>To develop a role-based database-driven system that manages carbon projects, verification, carbon-credit tokenization and marketplace transactions, while using MySQL for reliable data management and AI-based analytics for future price prediction.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7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9362B"/>
                </a:solidFill>
                <a:latin typeface="Aptos"/>
              </a:defRPr>
            </a:pPr>
            <a:r>
              <a:t>Functionalities Used / Planned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C6963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C6963"/>
                </a:solidFill>
                <a:latin typeface="Aptos"/>
              </a:defRPr>
            </a:pPr>
            <a:r>
              <a:t>Carbon Credit Management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234440"/>
            <a:ext cx="64008" cy="1874519"/>
          </a:xfrm>
          <a:prstGeom prst="rect">
            <a:avLst/>
          </a:prstGeom>
          <a:solidFill>
            <a:srgbClr val="267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3990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362B"/>
                </a:solidFill>
                <a:latin typeface="Aptos"/>
              </a:defRPr>
            </a:pPr>
            <a:r>
              <a:t>Company / Seller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3200400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963"/>
                </a:solidFill>
                <a:latin typeface="Aptos"/>
              </a:defRPr>
            </a:pPr>
            <a:r>
              <a:t>Register/login • Create project • Submit project • Generate/list credits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23444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80560" y="1234440"/>
            <a:ext cx="64008" cy="1874519"/>
          </a:xfrm>
          <a:prstGeom prst="rect">
            <a:avLst/>
          </a:prstGeom>
          <a:solidFill>
            <a:srgbClr val="26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13990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362B"/>
                </a:solidFill>
                <a:latin typeface="Aptos"/>
              </a:defRPr>
            </a:pPr>
            <a:r>
              <a:t>Verifier / 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801368"/>
            <a:ext cx="3200400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963"/>
                </a:solidFill>
                <a:latin typeface="Aptos"/>
              </a:defRPr>
            </a:pPr>
            <a:r>
              <a:t>Review project • Verify CO₂ reduction • Approve/reject • Monitor activity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23444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21040" y="1234440"/>
            <a:ext cx="64008" cy="1874519"/>
          </a:xfrm>
          <a:prstGeom prst="rect">
            <a:avLst/>
          </a:prstGeom>
          <a:solidFill>
            <a:srgbClr val="DB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19" y="13990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362B"/>
                </a:solidFill>
                <a:latin typeface="Aptos"/>
              </a:defRPr>
            </a:pPr>
            <a:r>
              <a:t>Buyer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9" y="1801368"/>
            <a:ext cx="3200400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963"/>
                </a:solidFill>
                <a:latin typeface="Aptos"/>
              </a:defRPr>
            </a:pPr>
            <a:r>
              <a:t>Browse marketplace • Check price • Purchase credits • View transactions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6616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566160"/>
            <a:ext cx="64008" cy="1874519"/>
          </a:xfrm>
          <a:prstGeom prst="rect">
            <a:avLst/>
          </a:prstGeom>
          <a:solidFill>
            <a:srgbClr val="26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59" y="37307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362B"/>
                </a:solidFill>
                <a:latin typeface="Aptos"/>
              </a:defRPr>
            </a:pPr>
            <a:r>
              <a:t>Blockchain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" y="4133087"/>
            <a:ext cx="3200400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963"/>
                </a:solidFill>
                <a:latin typeface="Aptos"/>
              </a:defRPr>
            </a:pPr>
            <a:r>
              <a:t>Mint tokens • Transfer ownership through smart contract • Record transaction hash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56616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80560" y="3566160"/>
            <a:ext cx="64008" cy="1874519"/>
          </a:xfrm>
          <a:prstGeom prst="rect">
            <a:avLst/>
          </a:prstGeom>
          <a:solidFill>
            <a:srgbClr val="DB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63440" y="37307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362B"/>
                </a:solidFill>
                <a:latin typeface="Aptos"/>
              </a:defRPr>
            </a:pPr>
            <a:r>
              <a:t>AI /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133087"/>
            <a:ext cx="3200400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963"/>
                </a:solidFill>
                <a:latin typeface="Aptos"/>
              </a:defRPr>
            </a:pPr>
            <a:r>
              <a:t>Prepare market data • Predict future prices • Display trends and analytics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21040" y="356616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321040" y="3566160"/>
            <a:ext cx="64008" cy="1874519"/>
          </a:xfrm>
          <a:prstGeom prst="rect">
            <a:avLst/>
          </a:prstGeom>
          <a:solidFill>
            <a:srgbClr val="267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03919" y="37307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362B"/>
                </a:solidFill>
                <a:latin typeface="Aptos"/>
              </a:defRPr>
            </a:pPr>
            <a:r>
              <a:t>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4133087"/>
            <a:ext cx="3200400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963"/>
                </a:solidFill>
                <a:latin typeface="Aptos"/>
              </a:defRPr>
            </a:pPr>
            <a:r>
              <a:t>JWT authentication • RBAC • MySQL persistence • API integration •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7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9362B"/>
                </a:solidFill>
                <a:latin typeface="Aptos"/>
              </a:defRPr>
            </a:pPr>
            <a:r>
              <a:t>Project Steps — Completed vs Pending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C6963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C6963"/>
                </a:solidFill>
                <a:latin typeface="Aptos"/>
              </a:defRPr>
            </a:pPr>
            <a:r>
              <a:t>Carbon Credit Management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67853"/>
                </a:solidFill>
                <a:latin typeface="Aptos"/>
              </a:defRPr>
            </a:pPr>
            <a:r>
              <a:t>COMPLETED — CORE WEB/DBMS 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516636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9362B"/>
                </a:solidFill>
                <a:latin typeface="Aptos"/>
              </a:defRPr>
            </a:pPr>
            <a:r>
              <a:t>• Requirements &amp; system design</a:t>
            </a:r>
          </a:p>
          <a:p>
            <a:pPr>
              <a:spcAft>
                <a:spcPts val="600"/>
              </a:spcAft>
              <a:defRPr sz="1400">
                <a:solidFill>
                  <a:srgbClr val="19362B"/>
                </a:solidFill>
                <a:latin typeface="Aptos"/>
              </a:defRPr>
            </a:pPr>
            <a:r>
              <a:t>• ER/database design</a:t>
            </a:r>
          </a:p>
          <a:p>
            <a:pPr>
              <a:spcAft>
                <a:spcPts val="600"/>
              </a:spcAft>
              <a:defRPr sz="1400">
                <a:solidFill>
                  <a:srgbClr val="19362B"/>
                </a:solidFill>
                <a:latin typeface="Aptos"/>
              </a:defRPr>
            </a:pPr>
            <a:r>
              <a:t>• MySQL schema &amp; constraints</a:t>
            </a:r>
          </a:p>
          <a:p>
            <a:pPr>
              <a:spcAft>
                <a:spcPts val="600"/>
              </a:spcAft>
              <a:defRPr sz="1400">
                <a:solidFill>
                  <a:srgbClr val="19362B"/>
                </a:solidFill>
                <a:latin typeface="Aptos"/>
              </a:defRPr>
            </a:pPr>
            <a:r>
              <a:t>• Views, procedures &amp; triggers</a:t>
            </a:r>
          </a:p>
          <a:p>
            <a:pPr>
              <a:spcAft>
                <a:spcPts val="600"/>
              </a:spcAft>
              <a:defRPr sz="1400">
                <a:solidFill>
                  <a:srgbClr val="19362B"/>
                </a:solidFill>
                <a:latin typeface="Aptos"/>
              </a:defRPr>
            </a:pPr>
            <a:r>
              <a:t>• Sample data &amp; DB testing</a:t>
            </a:r>
          </a:p>
          <a:p>
            <a:pPr>
              <a:spcAft>
                <a:spcPts val="600"/>
              </a:spcAft>
              <a:defRPr sz="1400">
                <a:solidFill>
                  <a:srgbClr val="19362B"/>
                </a:solidFill>
                <a:latin typeface="Aptos"/>
              </a:defRPr>
            </a:pPr>
            <a:r>
              <a:t>• Backend REST APIs</a:t>
            </a:r>
          </a:p>
          <a:p>
            <a:pPr>
              <a:spcAft>
                <a:spcPts val="600"/>
              </a:spcAft>
              <a:defRPr sz="1400">
                <a:solidFill>
                  <a:srgbClr val="19362B"/>
                </a:solidFill>
                <a:latin typeface="Aptos"/>
              </a:defRPr>
            </a:pPr>
            <a:r>
              <a:t>• JWT authentication &amp; RBAC</a:t>
            </a:r>
          </a:p>
          <a:p>
            <a:pPr>
              <a:spcAft>
                <a:spcPts val="600"/>
              </a:spcAft>
              <a:defRPr sz="1400">
                <a:solidFill>
                  <a:srgbClr val="19362B"/>
                </a:solidFill>
                <a:latin typeface="Aptos"/>
              </a:defRPr>
            </a:pPr>
            <a:r>
              <a:t>• Seller/project module</a:t>
            </a:r>
          </a:p>
          <a:p>
            <a:pPr>
              <a:spcAft>
                <a:spcPts val="600"/>
              </a:spcAft>
              <a:defRPr sz="1400">
                <a:solidFill>
                  <a:srgbClr val="19362B"/>
                </a:solidFill>
                <a:latin typeface="Aptos"/>
              </a:defRPr>
            </a:pPr>
            <a:r>
              <a:t>• Verifier module</a:t>
            </a:r>
          </a:p>
          <a:p>
            <a:pPr>
              <a:spcAft>
                <a:spcPts val="600"/>
              </a:spcAft>
              <a:defRPr sz="1400">
                <a:solidFill>
                  <a:srgbClr val="19362B"/>
                </a:solidFill>
                <a:latin typeface="Aptos"/>
              </a:defRPr>
            </a:pPr>
            <a:r>
              <a:t>• Buyer &amp; marketplace module</a:t>
            </a:r>
          </a:p>
          <a:p>
            <a:pPr>
              <a:spcAft>
                <a:spcPts val="600"/>
              </a:spcAft>
              <a:defRPr sz="1400">
                <a:solidFill>
                  <a:srgbClr val="19362B"/>
                </a:solidFill>
                <a:latin typeface="Aptos"/>
              </a:defRPr>
            </a:pPr>
            <a:r>
              <a:t>• Transaction management</a:t>
            </a:r>
          </a:p>
          <a:p>
            <a:pPr>
              <a:spcAft>
                <a:spcPts val="600"/>
              </a:spcAft>
              <a:defRPr sz="1400">
                <a:solidFill>
                  <a:srgbClr val="19362B"/>
                </a:solidFill>
                <a:latin typeface="Aptos"/>
              </a:defRPr>
            </a:pPr>
            <a:r>
              <a:t>• Frontend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234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BA441"/>
                </a:solidFill>
                <a:latin typeface="Aptos"/>
              </a:defRPr>
            </a:pPr>
            <a:r>
              <a:t>PENDING — ADVANCED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691640"/>
            <a:ext cx="52120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9362B"/>
                </a:solidFill>
                <a:latin typeface="Aptos"/>
              </a:defRPr>
            </a:pPr>
            <a:r>
              <a:t>• Carbon-credit generation integration</a:t>
            </a:r>
          </a:p>
          <a:p>
            <a:pPr>
              <a:spcAft>
                <a:spcPts val="600"/>
              </a:spcAft>
              <a:defRPr sz="1400">
                <a:solidFill>
                  <a:srgbClr val="19362B"/>
                </a:solidFill>
                <a:latin typeface="Aptos"/>
              </a:defRPr>
            </a:pPr>
            <a:r>
              <a:t>• Blockchain / smart contract</a:t>
            </a:r>
          </a:p>
          <a:p>
            <a:pPr>
              <a:spcAft>
                <a:spcPts val="600"/>
              </a:spcAft>
              <a:defRPr sz="1400">
                <a:solidFill>
                  <a:srgbClr val="19362B"/>
                </a:solidFill>
                <a:latin typeface="Aptos"/>
              </a:defRPr>
            </a:pPr>
            <a:r>
              <a:t>• Token ownership transfer</a:t>
            </a:r>
          </a:p>
          <a:p>
            <a:pPr>
              <a:spcAft>
                <a:spcPts val="600"/>
              </a:spcAft>
              <a:defRPr sz="1400">
                <a:solidFill>
                  <a:srgbClr val="19362B"/>
                </a:solidFill>
                <a:latin typeface="Aptos"/>
              </a:defRPr>
            </a:pPr>
            <a:r>
              <a:t>• Credit retirement</a:t>
            </a:r>
          </a:p>
          <a:p>
            <a:pPr>
              <a:spcAft>
                <a:spcPts val="600"/>
              </a:spcAft>
              <a:defRPr sz="1400">
                <a:solidFill>
                  <a:srgbClr val="19362B"/>
                </a:solidFill>
                <a:latin typeface="Aptos"/>
              </a:defRPr>
            </a:pPr>
            <a:r>
              <a:t>• AI dataset preparation</a:t>
            </a:r>
          </a:p>
          <a:p>
            <a:pPr>
              <a:spcAft>
                <a:spcPts val="600"/>
              </a:spcAft>
              <a:defRPr sz="1400">
                <a:solidFill>
                  <a:srgbClr val="19362B"/>
                </a:solidFill>
                <a:latin typeface="Aptos"/>
              </a:defRPr>
            </a:pPr>
            <a:r>
              <a:t>• Price prediction model</a:t>
            </a:r>
          </a:p>
          <a:p>
            <a:pPr>
              <a:spcAft>
                <a:spcPts val="600"/>
              </a:spcAft>
              <a:defRPr sz="1400">
                <a:solidFill>
                  <a:srgbClr val="19362B"/>
                </a:solidFill>
                <a:latin typeface="Aptos"/>
              </a:defRPr>
            </a:pPr>
            <a:r>
              <a:t>• Dynamic pricing / recommendations</a:t>
            </a:r>
          </a:p>
          <a:p>
            <a:pPr>
              <a:spcAft>
                <a:spcPts val="600"/>
              </a:spcAft>
              <a:defRPr sz="1400">
                <a:solidFill>
                  <a:srgbClr val="19362B"/>
                </a:solidFill>
                <a:latin typeface="Aptos"/>
              </a:defRPr>
            </a:pPr>
            <a:r>
              <a:t>• Analytics dashboard integration</a:t>
            </a:r>
          </a:p>
          <a:p>
            <a:pPr>
              <a:spcAft>
                <a:spcPts val="600"/>
              </a:spcAft>
              <a:defRPr sz="1400">
                <a:solidFill>
                  <a:srgbClr val="19362B"/>
                </a:solidFill>
                <a:latin typeface="Aptos"/>
              </a:defRPr>
            </a:pPr>
            <a:r>
              <a:t>• Online deployment</a:t>
            </a:r>
          </a:p>
          <a:p>
            <a:pPr>
              <a:spcAft>
                <a:spcPts val="600"/>
              </a:spcAft>
              <a:defRPr sz="1400">
                <a:solidFill>
                  <a:srgbClr val="19362B"/>
                </a:solidFill>
                <a:latin typeface="Aptos"/>
              </a:defRPr>
            </a:pPr>
            <a:r>
              <a:t>• Multi-user online testing</a:t>
            </a:r>
          </a:p>
          <a:p>
            <a:pPr>
              <a:spcAft>
                <a:spcPts val="600"/>
              </a:spcAft>
              <a:defRPr sz="1400">
                <a:solidFill>
                  <a:srgbClr val="19362B"/>
                </a:solidFill>
                <a:latin typeface="Aptos"/>
              </a:defRPr>
            </a:pPr>
            <a:r>
              <a:t>• Final end-to-end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84949"/>
                </a:solidFill>
                <a:latin typeface="Aptos"/>
              </a:defRPr>
            </a:pPr>
            <a:r>
              <a:t>Blockchain and AI are planned project components and are not presented as completed implementation.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560" y="45720"/>
            <a:ext cx="12191695" cy="6858000"/>
          </a:xfrm>
          <a:prstGeom prst="rect">
            <a:avLst/>
          </a:prstGeom>
          <a:solidFill>
            <a:srgbClr val="F7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7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9362B"/>
                </a:solidFill>
                <a:latin typeface="Aptos"/>
              </a:defRPr>
            </a:pPr>
            <a:r>
              <a:t>UML — Use Case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C6963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2792749" y="1252728"/>
            <a:ext cx="868680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67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C6963"/>
                </a:solidFill>
                <a:latin typeface="Aptos"/>
              </a:defRPr>
            </a:pPr>
            <a:r>
              <a:t>Carbon Credit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2984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7853"/>
                </a:solidFill>
                <a:latin typeface="Aptos"/>
              </a:defRPr>
            </a:pPr>
            <a:r>
              <a:t>Carbon Credit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171" y="1871557"/>
            <a:ext cx="1082193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9362B"/>
                </a:solidFill>
                <a:latin typeface="Aptos"/>
              </a:defRPr>
            </a:pPr>
            <a:r>
              <a:rPr dirty="0"/>
              <a:t>Company / Seller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170" y="3292930"/>
            <a:ext cx="1082193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9362B"/>
                </a:solidFill>
                <a:latin typeface="Aptos"/>
              </a:defRPr>
            </a:pPr>
            <a:r>
              <a:rPr dirty="0"/>
              <a:t>Verifier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171" y="4529637"/>
            <a:ext cx="1082193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9362B"/>
                </a:solidFill>
                <a:latin typeface="Aptos"/>
              </a:defRPr>
            </a:pPr>
            <a:r>
              <a:rPr dirty="0"/>
              <a:t>Buyer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5714" y="1733057"/>
            <a:ext cx="904691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9362B"/>
                </a:solidFill>
                <a:latin typeface="Aptos"/>
              </a:defRPr>
            </a:pPr>
            <a:r>
              <a:rPr dirty="0"/>
              <a:t>Admin</a:t>
            </a:r>
          </a:p>
        </p:txBody>
      </p:sp>
      <p:sp>
        <p:nvSpPr>
          <p:cNvPr id="14" name="Oval 13"/>
          <p:cNvSpPr/>
          <p:nvPr/>
        </p:nvSpPr>
        <p:spPr>
          <a:xfrm>
            <a:off x="3657600" y="1828800"/>
            <a:ext cx="2103120" cy="530352"/>
          </a:xfrm>
          <a:prstGeom prst="ellipse">
            <a:avLst/>
          </a:prstGeom>
          <a:solidFill>
            <a:srgbClr val="FFFFFF"/>
          </a:solidFill>
          <a:ln>
            <a:solidFill>
              <a:srgbClr val="26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9362B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15" name="Oval 14"/>
          <p:cNvSpPr/>
          <p:nvPr/>
        </p:nvSpPr>
        <p:spPr>
          <a:xfrm>
            <a:off x="3657600" y="2514600"/>
            <a:ext cx="2743200" cy="530352"/>
          </a:xfrm>
          <a:prstGeom prst="ellipse">
            <a:avLst/>
          </a:prstGeom>
          <a:solidFill>
            <a:srgbClr val="FFFFFF"/>
          </a:solidFill>
          <a:ln>
            <a:solidFill>
              <a:srgbClr val="26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9362B"/>
                </a:solidFill>
                <a:latin typeface="Aptos"/>
              </a:defRPr>
            </a:pPr>
            <a:r>
              <a:t>Create / Submit Project</a:t>
            </a:r>
          </a:p>
        </p:txBody>
      </p:sp>
      <p:sp>
        <p:nvSpPr>
          <p:cNvPr id="16" name="Oval 15"/>
          <p:cNvSpPr/>
          <p:nvPr/>
        </p:nvSpPr>
        <p:spPr>
          <a:xfrm>
            <a:off x="3657600" y="3200400"/>
            <a:ext cx="2468880" cy="530352"/>
          </a:xfrm>
          <a:prstGeom prst="ellipse">
            <a:avLst/>
          </a:prstGeom>
          <a:solidFill>
            <a:srgbClr val="FFFFFF"/>
          </a:solidFill>
          <a:ln>
            <a:solidFill>
              <a:srgbClr val="26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9362B"/>
                </a:solidFill>
                <a:latin typeface="Aptos"/>
              </a:defRPr>
            </a:pPr>
            <a:r>
              <a:t>Verify Project</a:t>
            </a:r>
          </a:p>
        </p:txBody>
      </p:sp>
      <p:sp>
        <p:nvSpPr>
          <p:cNvPr id="17" name="Oval 16"/>
          <p:cNvSpPr/>
          <p:nvPr/>
        </p:nvSpPr>
        <p:spPr>
          <a:xfrm>
            <a:off x="3657600" y="3886200"/>
            <a:ext cx="2743200" cy="530352"/>
          </a:xfrm>
          <a:prstGeom prst="ellipse">
            <a:avLst/>
          </a:prstGeom>
          <a:solidFill>
            <a:srgbClr val="FFFFFF"/>
          </a:solidFill>
          <a:ln>
            <a:solidFill>
              <a:srgbClr val="26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9362B"/>
                </a:solidFill>
                <a:latin typeface="Aptos"/>
              </a:defRPr>
            </a:pPr>
            <a:r>
              <a:t>Mint / Manage Credits</a:t>
            </a:r>
          </a:p>
        </p:txBody>
      </p:sp>
      <p:sp>
        <p:nvSpPr>
          <p:cNvPr id="18" name="Oval 17"/>
          <p:cNvSpPr/>
          <p:nvPr/>
        </p:nvSpPr>
        <p:spPr>
          <a:xfrm>
            <a:off x="3192742" y="5367528"/>
            <a:ext cx="2560320" cy="530352"/>
          </a:xfrm>
          <a:prstGeom prst="ellipse">
            <a:avLst/>
          </a:prstGeom>
          <a:solidFill>
            <a:srgbClr val="FFFFFF"/>
          </a:solidFill>
          <a:ln>
            <a:solidFill>
              <a:srgbClr val="26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9362B"/>
                </a:solidFill>
                <a:latin typeface="Aptos"/>
              </a:defRPr>
            </a:pPr>
            <a:r>
              <a:t>Browse Marketplace</a:t>
            </a:r>
          </a:p>
        </p:txBody>
      </p:sp>
      <p:sp>
        <p:nvSpPr>
          <p:cNvPr id="19" name="Oval 18"/>
          <p:cNvSpPr/>
          <p:nvPr/>
        </p:nvSpPr>
        <p:spPr>
          <a:xfrm>
            <a:off x="5333746" y="4844766"/>
            <a:ext cx="2286000" cy="530352"/>
          </a:xfrm>
          <a:prstGeom prst="ellipse">
            <a:avLst/>
          </a:prstGeom>
          <a:solidFill>
            <a:srgbClr val="FFFFFF"/>
          </a:solidFill>
          <a:ln>
            <a:solidFill>
              <a:srgbClr val="26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9362B"/>
                </a:solidFill>
                <a:latin typeface="Aptos"/>
              </a:defRPr>
            </a:pPr>
            <a:r>
              <a:t>Purchase Credits</a:t>
            </a:r>
          </a:p>
        </p:txBody>
      </p:sp>
      <p:sp>
        <p:nvSpPr>
          <p:cNvPr id="21" name="Oval 20"/>
          <p:cNvSpPr/>
          <p:nvPr/>
        </p:nvSpPr>
        <p:spPr>
          <a:xfrm>
            <a:off x="7467131" y="4222304"/>
            <a:ext cx="2194560" cy="530352"/>
          </a:xfrm>
          <a:prstGeom prst="ellipse">
            <a:avLst/>
          </a:prstGeom>
          <a:solidFill>
            <a:srgbClr val="FFFFFF"/>
          </a:solidFill>
          <a:ln>
            <a:solidFill>
              <a:srgbClr val="26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9362B"/>
                </a:solidFill>
                <a:latin typeface="Aptos"/>
              </a:defRPr>
            </a:pPr>
            <a:r>
              <a:rPr dirty="0"/>
              <a:t>View Analytics</a:t>
            </a:r>
          </a:p>
        </p:txBody>
      </p:sp>
      <p:cxnSp>
        <p:nvCxnSpPr>
          <p:cNvPr id="27" name="Connector 26"/>
          <p:cNvCxnSpPr>
            <a:stCxn id="12" idx="3"/>
            <a:endCxn id="18" idx="2"/>
          </p:cNvCxnSpPr>
          <p:nvPr/>
        </p:nvCxnSpPr>
        <p:spPr>
          <a:xfrm>
            <a:off x="1996364" y="4668137"/>
            <a:ext cx="1196378" cy="964567"/>
          </a:xfrm>
          <a:prstGeom prst="line">
            <a:avLst/>
          </a:prstGeom>
          <a:ln w="25400">
            <a:solidFill>
              <a:srgbClr val="268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936131" y="2214402"/>
            <a:ext cx="2743200" cy="530352"/>
          </a:xfrm>
          <a:prstGeom prst="ellipse">
            <a:avLst/>
          </a:prstGeom>
          <a:solidFill>
            <a:srgbClr val="FFFFFF"/>
          </a:solidFill>
          <a:ln>
            <a:solidFill>
              <a:srgbClr val="26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19362B"/>
                </a:solidFill>
                <a:latin typeface="Aptos"/>
              </a:defRPr>
            </a:pPr>
            <a:r>
              <a:t>Manage Users / Data</a:t>
            </a:r>
          </a:p>
        </p:txBody>
      </p:sp>
      <p:cxnSp>
        <p:nvCxnSpPr>
          <p:cNvPr id="23" name="Connector 22"/>
          <p:cNvCxnSpPr>
            <a:stCxn id="10" idx="3"/>
            <a:endCxn id="14" idx="2"/>
          </p:cNvCxnSpPr>
          <p:nvPr/>
        </p:nvCxnSpPr>
        <p:spPr>
          <a:xfrm flipV="1">
            <a:off x="1996364" y="2093976"/>
            <a:ext cx="1661236" cy="8414"/>
          </a:xfrm>
          <a:prstGeom prst="line">
            <a:avLst/>
          </a:prstGeom>
          <a:ln w="25400">
            <a:solidFill>
              <a:srgbClr val="268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10" idx="3"/>
          </p:cNvCxnSpPr>
          <p:nvPr/>
        </p:nvCxnSpPr>
        <p:spPr>
          <a:xfrm>
            <a:off x="1996364" y="2102390"/>
            <a:ext cx="1661236" cy="686530"/>
          </a:xfrm>
          <a:prstGeom prst="line">
            <a:avLst/>
          </a:prstGeom>
          <a:ln w="25400">
            <a:solidFill>
              <a:srgbClr val="268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11" idx="3"/>
          </p:cNvCxnSpPr>
          <p:nvPr/>
        </p:nvCxnSpPr>
        <p:spPr>
          <a:xfrm>
            <a:off x="1996363" y="3431430"/>
            <a:ext cx="1661237" cy="43290"/>
          </a:xfrm>
          <a:prstGeom prst="line">
            <a:avLst/>
          </a:prstGeom>
          <a:ln w="25400">
            <a:solidFill>
              <a:srgbClr val="268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11" idx="3"/>
          </p:cNvCxnSpPr>
          <p:nvPr/>
        </p:nvCxnSpPr>
        <p:spPr>
          <a:xfrm>
            <a:off x="1996363" y="3431430"/>
            <a:ext cx="1661237" cy="729090"/>
          </a:xfrm>
          <a:prstGeom prst="line">
            <a:avLst/>
          </a:prstGeom>
          <a:ln w="25400">
            <a:solidFill>
              <a:srgbClr val="268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12" idx="3"/>
            <a:endCxn id="19" idx="2"/>
          </p:cNvCxnSpPr>
          <p:nvPr/>
        </p:nvCxnSpPr>
        <p:spPr>
          <a:xfrm>
            <a:off x="1996364" y="4668137"/>
            <a:ext cx="3337382" cy="441805"/>
          </a:xfrm>
          <a:prstGeom prst="line">
            <a:avLst/>
          </a:prstGeom>
          <a:ln w="25400">
            <a:solidFill>
              <a:srgbClr val="268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12" idx="3"/>
            <a:endCxn id="21" idx="2"/>
          </p:cNvCxnSpPr>
          <p:nvPr/>
        </p:nvCxnSpPr>
        <p:spPr>
          <a:xfrm flipV="1">
            <a:off x="1996364" y="4487480"/>
            <a:ext cx="5470767" cy="180657"/>
          </a:xfrm>
          <a:prstGeom prst="line">
            <a:avLst/>
          </a:prstGeom>
          <a:ln w="25400">
            <a:solidFill>
              <a:srgbClr val="268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stCxn id="13" idx="2"/>
            <a:endCxn id="22" idx="6"/>
          </p:cNvCxnSpPr>
          <p:nvPr/>
        </p:nvCxnSpPr>
        <p:spPr>
          <a:xfrm flipH="1">
            <a:off x="9679331" y="2010056"/>
            <a:ext cx="868729" cy="469522"/>
          </a:xfrm>
          <a:prstGeom prst="line">
            <a:avLst/>
          </a:prstGeom>
          <a:ln w="25400">
            <a:solidFill>
              <a:srgbClr val="DBA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22"/>
          <p:cNvCxnSpPr>
            <a:stCxn id="11" idx="3"/>
            <a:endCxn id="14" idx="2"/>
          </p:cNvCxnSpPr>
          <p:nvPr/>
        </p:nvCxnSpPr>
        <p:spPr>
          <a:xfrm flipV="1">
            <a:off x="1996363" y="2093976"/>
            <a:ext cx="1661237" cy="1337454"/>
          </a:xfrm>
          <a:prstGeom prst="line">
            <a:avLst/>
          </a:prstGeom>
          <a:ln w="25400">
            <a:solidFill>
              <a:srgbClr val="268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22"/>
          <p:cNvCxnSpPr>
            <a:stCxn id="12" idx="3"/>
            <a:endCxn id="14" idx="2"/>
          </p:cNvCxnSpPr>
          <p:nvPr/>
        </p:nvCxnSpPr>
        <p:spPr>
          <a:xfrm flipV="1">
            <a:off x="1996364" y="2093976"/>
            <a:ext cx="1661236" cy="2574161"/>
          </a:xfrm>
          <a:prstGeom prst="line">
            <a:avLst/>
          </a:prstGeom>
          <a:ln w="25400">
            <a:solidFill>
              <a:srgbClr val="268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109728"/>
            <a:ext cx="12191695" cy="6858000"/>
          </a:xfrm>
          <a:prstGeom prst="rect">
            <a:avLst/>
          </a:prstGeom>
          <a:solidFill>
            <a:srgbClr val="F7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7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9362B"/>
                </a:solidFill>
                <a:latin typeface="Aptos"/>
              </a:defRPr>
            </a:pPr>
            <a:r>
              <a:t>Database Design — ER Diagram (MySQL)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C6963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C6963"/>
                </a:solidFill>
                <a:latin typeface="Aptos"/>
              </a:defRPr>
            </a:pPr>
            <a:r>
              <a:t>Carbon Credit Management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824728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C6963"/>
                </a:solidFill>
                <a:latin typeface="Aptos"/>
              </a:defRPr>
            </a:pPr>
            <a:r>
              <a:rPr dirty="0"/>
              <a:t>MySQL stores structured application records. </a:t>
            </a:r>
            <a:r>
              <a:rPr dirty="0" err="1"/>
              <a:t>Blockchain</a:t>
            </a:r>
            <a:r>
              <a:rPr dirty="0"/>
              <a:t> references such as token IDs and transaction hashes can be stored with off-chain records once </a:t>
            </a:r>
            <a:r>
              <a:rPr dirty="0" err="1"/>
              <a:t>blockchain</a:t>
            </a:r>
            <a:r>
              <a:rPr dirty="0"/>
              <a:t> integration is implemented.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26" y="864108"/>
            <a:ext cx="10247148" cy="49469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13038"/>
            <a:ext cx="12191695" cy="6858000"/>
          </a:xfrm>
          <a:prstGeom prst="rect">
            <a:avLst/>
          </a:prstGeom>
          <a:solidFill>
            <a:srgbClr val="F7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7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9362B"/>
                </a:solidFill>
                <a:latin typeface="Aptos"/>
              </a:defRPr>
            </a:pPr>
            <a:r>
              <a:t>Full Project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C6963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C6963"/>
                </a:solidFill>
                <a:latin typeface="Aptos"/>
              </a:defRPr>
            </a:pPr>
            <a:r>
              <a:t>Carbon Credit Management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188720"/>
            <a:ext cx="192024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7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9362B"/>
                </a:solidFill>
                <a:latin typeface="Aptos"/>
              </a:defRPr>
            </a:pPr>
            <a:r>
              <a:t>Company Registers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188720"/>
            <a:ext cx="192024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7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9362B"/>
                </a:solidFill>
                <a:latin typeface="Aptos"/>
              </a:defRPr>
            </a:pPr>
            <a:r>
              <a:t>Creates Carbon Project</a:t>
            </a:r>
          </a:p>
        </p:txBody>
      </p:sp>
      <p:cxnSp>
        <p:nvCxnSpPr>
          <p:cNvPr id="11" name="Connector 10"/>
          <p:cNvCxnSpPr>
            <a:stCxn id="10" idx="3"/>
            <a:endCxn id="12" idx="1"/>
          </p:cNvCxnSpPr>
          <p:nvPr/>
        </p:nvCxnSpPr>
        <p:spPr>
          <a:xfrm>
            <a:off x="4663440" y="1485900"/>
            <a:ext cx="411480" cy="0"/>
          </a:xfrm>
          <a:prstGeom prst="line">
            <a:avLst/>
          </a:prstGeom>
          <a:ln w="25400">
            <a:solidFill>
              <a:srgbClr val="267853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74920" y="1188720"/>
            <a:ext cx="192024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7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9362B"/>
                </a:solidFill>
                <a:latin typeface="Aptos"/>
              </a:defRPr>
            </a:pPr>
            <a:r>
              <a:t>Project Verification</a:t>
            </a:r>
          </a:p>
        </p:txBody>
      </p:sp>
      <p:cxnSp>
        <p:nvCxnSpPr>
          <p:cNvPr id="13" name="Connector 12"/>
          <p:cNvCxnSpPr>
            <a:stCxn id="12" idx="3"/>
            <a:endCxn id="14" idx="1"/>
          </p:cNvCxnSpPr>
          <p:nvPr/>
        </p:nvCxnSpPr>
        <p:spPr>
          <a:xfrm>
            <a:off x="6995160" y="1485900"/>
            <a:ext cx="365760" cy="0"/>
          </a:xfrm>
          <a:prstGeom prst="line">
            <a:avLst/>
          </a:prstGeom>
          <a:ln w="25400">
            <a:solidFill>
              <a:srgbClr val="267853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60920" y="1188720"/>
            <a:ext cx="192024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7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9362B"/>
                </a:solidFill>
                <a:latin typeface="Aptos"/>
              </a:defRPr>
            </a:pPr>
            <a:r>
              <a:t>Carbon Credits Generated</a:t>
            </a:r>
          </a:p>
        </p:txBody>
      </p:sp>
      <p:cxnSp>
        <p:nvCxnSpPr>
          <p:cNvPr id="15" name="Connector 14"/>
          <p:cNvCxnSpPr>
            <a:stCxn id="14" idx="3"/>
            <a:endCxn id="16" idx="1"/>
          </p:cNvCxnSpPr>
          <p:nvPr/>
        </p:nvCxnSpPr>
        <p:spPr>
          <a:xfrm>
            <a:off x="9281160" y="1485900"/>
            <a:ext cx="365760" cy="0"/>
          </a:xfrm>
          <a:prstGeom prst="line">
            <a:avLst/>
          </a:prstGeom>
          <a:ln w="25400">
            <a:solidFill>
              <a:srgbClr val="267853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46920" y="1188720"/>
            <a:ext cx="192024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9362B"/>
                </a:solidFill>
                <a:latin typeface="Aptos"/>
              </a:defRPr>
            </a:pPr>
            <a:r>
              <a:t>Blockchain Tokens Minted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2606040"/>
            <a:ext cx="21945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9362B"/>
                </a:solidFill>
                <a:latin typeface="Aptos"/>
              </a:defRPr>
            </a:pPr>
            <a:r>
              <a:t>Credits Listed on Marketplace</a:t>
            </a:r>
          </a:p>
        </p:txBody>
      </p:sp>
      <p:cxnSp>
        <p:nvCxnSpPr>
          <p:cNvPr id="19" name="Connector 18"/>
          <p:cNvCxnSpPr>
            <a:stCxn id="18" idx="1"/>
            <a:endCxn id="20" idx="3"/>
          </p:cNvCxnSpPr>
          <p:nvPr/>
        </p:nvCxnSpPr>
        <p:spPr>
          <a:xfrm flipH="1">
            <a:off x="6629400" y="2903220"/>
            <a:ext cx="960120" cy="0"/>
          </a:xfrm>
          <a:prstGeom prst="line">
            <a:avLst/>
          </a:prstGeom>
          <a:ln w="25400">
            <a:solidFill>
              <a:srgbClr val="268484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34840" y="2606040"/>
            <a:ext cx="21945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9362B"/>
                </a:solidFill>
                <a:latin typeface="Aptos"/>
              </a:defRPr>
            </a:pPr>
            <a:r>
              <a:t>Buyer Purchases Credits</a:t>
            </a:r>
          </a:p>
        </p:txBody>
      </p:sp>
      <p:cxnSp>
        <p:nvCxnSpPr>
          <p:cNvPr id="21" name="Connector 20"/>
          <p:cNvCxnSpPr>
            <a:stCxn id="22" idx="3"/>
            <a:endCxn id="20" idx="1"/>
          </p:cNvCxnSpPr>
          <p:nvPr/>
        </p:nvCxnSpPr>
        <p:spPr>
          <a:xfrm>
            <a:off x="3474720" y="2903220"/>
            <a:ext cx="960120" cy="0"/>
          </a:xfrm>
          <a:prstGeom prst="line">
            <a:avLst/>
          </a:prstGeom>
          <a:ln w="25400">
            <a:solidFill>
              <a:srgbClr val="268484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280160" y="2606040"/>
            <a:ext cx="21945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9362B"/>
                </a:solidFill>
                <a:latin typeface="Aptos"/>
              </a:defRPr>
            </a:pPr>
            <a:r>
              <a:rPr dirty="0"/>
              <a:t>Smart Contract Transfers Ownership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24505" y="4160520"/>
            <a:ext cx="237744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7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9362B"/>
                </a:solidFill>
                <a:latin typeface="Aptos"/>
              </a:defRPr>
            </a:pPr>
            <a:r>
              <a:t>MySQL Database Updates</a:t>
            </a:r>
          </a:p>
        </p:txBody>
      </p:sp>
      <p:cxnSp>
        <p:nvCxnSpPr>
          <p:cNvPr id="25" name="Connector 24"/>
          <p:cNvCxnSpPr>
            <a:stCxn id="24" idx="3"/>
            <a:endCxn id="26" idx="1"/>
          </p:cNvCxnSpPr>
          <p:nvPr/>
        </p:nvCxnSpPr>
        <p:spPr>
          <a:xfrm>
            <a:off x="5501945" y="4457700"/>
            <a:ext cx="2681935" cy="8889"/>
          </a:xfrm>
          <a:prstGeom prst="line">
            <a:avLst/>
          </a:prstGeom>
          <a:ln w="25400">
            <a:solidFill>
              <a:srgbClr val="DBA44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83880" y="4169409"/>
            <a:ext cx="21945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9362B"/>
                </a:solidFill>
                <a:latin typeface="Aptos"/>
              </a:defRPr>
            </a:pPr>
            <a:r>
              <a:t>AI Predicts Future Prices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25592" y="5379720"/>
            <a:ext cx="283464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9362B"/>
                </a:solidFill>
                <a:latin typeface="Aptos"/>
              </a:defRPr>
            </a:pPr>
            <a:r>
              <a:t>Dashboard Displays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17220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84949"/>
                </a:solidFill>
                <a:latin typeface="Aptos"/>
              </a:defRPr>
            </a:pPr>
            <a:r>
              <a:t>Pending stages: blockchain tokenization, smart-contract ownership transfer, AI prediction and final analytics integration.</a:t>
            </a:r>
          </a:p>
        </p:txBody>
      </p:sp>
      <p:cxnSp>
        <p:nvCxnSpPr>
          <p:cNvPr id="30" name="Connector 10"/>
          <p:cNvCxnSpPr>
            <a:stCxn id="8" idx="3"/>
            <a:endCxn id="10" idx="1"/>
          </p:cNvCxnSpPr>
          <p:nvPr/>
        </p:nvCxnSpPr>
        <p:spPr>
          <a:xfrm>
            <a:off x="2377440" y="1485900"/>
            <a:ext cx="365760" cy="0"/>
          </a:xfrm>
          <a:prstGeom prst="line">
            <a:avLst/>
          </a:prstGeom>
          <a:ln w="25400">
            <a:solidFill>
              <a:srgbClr val="267853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/>
          <p:cNvCxnSpPr>
            <a:stCxn id="16" idx="2"/>
            <a:endCxn id="18" idx="3"/>
          </p:cNvCxnSpPr>
          <p:nvPr/>
        </p:nvCxnSpPr>
        <p:spPr>
          <a:xfrm rot="5400000">
            <a:off x="9635490" y="1931670"/>
            <a:ext cx="1120140" cy="822960"/>
          </a:xfrm>
          <a:prstGeom prst="bentConnector2">
            <a:avLst/>
          </a:prstGeom>
          <a:ln>
            <a:solidFill>
              <a:srgbClr val="2684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/>
          <p:cNvCxnSpPr>
            <a:stCxn id="22" idx="2"/>
            <a:endCxn id="24" idx="1"/>
          </p:cNvCxnSpPr>
          <p:nvPr/>
        </p:nvCxnSpPr>
        <p:spPr>
          <a:xfrm rot="16200000" flipH="1">
            <a:off x="2122322" y="3455517"/>
            <a:ext cx="1257300" cy="747065"/>
          </a:xfrm>
          <a:prstGeom prst="bentConnector2">
            <a:avLst/>
          </a:prstGeom>
          <a:ln>
            <a:solidFill>
              <a:srgbClr val="26848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Elbow Connector 53"/>
          <p:cNvCxnSpPr>
            <a:stCxn id="26" idx="2"/>
            <a:endCxn id="28" idx="3"/>
          </p:cNvCxnSpPr>
          <p:nvPr/>
        </p:nvCxnSpPr>
        <p:spPr>
          <a:xfrm rot="5400000">
            <a:off x="8314131" y="4709870"/>
            <a:ext cx="913131" cy="1020928"/>
          </a:xfrm>
          <a:prstGeom prst="bentConnector2">
            <a:avLst/>
          </a:prstGeom>
          <a:ln>
            <a:solidFill>
              <a:srgbClr val="DBA4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7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9362B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C696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C6963"/>
                </a:solidFill>
                <a:latin typeface="Aptos"/>
              </a:defRPr>
            </a:pPr>
            <a:r>
              <a:t>Carbon Credit Management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960120"/>
            <a:ext cx="25603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7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362B"/>
                </a:solidFill>
                <a:latin typeface="Aptos"/>
              </a:defRPr>
            </a:pPr>
            <a:r>
              <a:t>Users / Companies / Buyers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35040" y="1600200"/>
            <a:ext cx="0" cy="365760"/>
          </a:xfrm>
          <a:prstGeom prst="line">
            <a:avLst/>
          </a:prstGeom>
          <a:ln w="25400">
            <a:solidFill>
              <a:srgbClr val="267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754880" y="1965960"/>
            <a:ext cx="25603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362B"/>
                </a:solidFill>
                <a:latin typeface="Aptos"/>
              </a:defRPr>
            </a:pPr>
            <a:r>
              <a:t>Frontend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35040" y="2606040"/>
            <a:ext cx="0" cy="365760"/>
          </a:xfrm>
          <a:prstGeom prst="line">
            <a:avLst/>
          </a:prstGeom>
          <a:ln w="25400">
            <a:solidFill>
              <a:srgbClr val="267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754880" y="2971800"/>
            <a:ext cx="25603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7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362B"/>
                </a:solidFill>
                <a:latin typeface="Aptos"/>
              </a:defRPr>
            </a:pPr>
            <a:r>
              <a:t>Node.js / Express Backend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572000"/>
            <a:ext cx="24688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7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362B"/>
                </a:solidFill>
                <a:latin typeface="Aptos"/>
              </a:defRPr>
            </a:pPr>
            <a:r>
              <a:t>MySQL Database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4572000"/>
            <a:ext cx="24688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8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362B"/>
                </a:solidFill>
                <a:latin typeface="Aptos"/>
              </a:defRPr>
            </a:pPr>
            <a:r>
              <a:rPr dirty="0" err="1"/>
              <a:t>Blockchain</a:t>
            </a:r>
            <a:r>
              <a:rPr dirty="0"/>
              <a:t> </a:t>
            </a:r>
            <a:endParaRPr lang="en-IN" dirty="0"/>
          </a:p>
          <a:p>
            <a:pPr algn="ctr">
              <a:defRPr sz="1200" b="1">
                <a:solidFill>
                  <a:srgbClr val="19362B"/>
                </a:solidFill>
                <a:latin typeface="Aptos"/>
              </a:defRPr>
            </a:pP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6949440" y="4572000"/>
            <a:ext cx="24688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9362B"/>
                </a:solidFill>
                <a:latin typeface="Aptos"/>
              </a:defRPr>
            </a:pPr>
            <a:r>
              <a:t>AI / ML Service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4572000"/>
            <a:ext cx="155448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362B"/>
                </a:solidFill>
                <a:latin typeface="Aptos"/>
              </a:defRPr>
            </a:pPr>
            <a:r>
              <a:t>Analytics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2148840" y="3611880"/>
            <a:ext cx="3886200" cy="960120"/>
          </a:xfrm>
          <a:prstGeom prst="line">
            <a:avLst/>
          </a:prstGeom>
          <a:ln w="25400">
            <a:solidFill>
              <a:srgbClr val="267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166360" y="3611880"/>
            <a:ext cx="868680" cy="960120"/>
          </a:xfrm>
          <a:prstGeom prst="line">
            <a:avLst/>
          </a:prstGeom>
          <a:ln w="25400">
            <a:solidFill>
              <a:srgbClr val="2684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35040" y="3611880"/>
            <a:ext cx="2148839" cy="960120"/>
          </a:xfrm>
          <a:prstGeom prst="line">
            <a:avLst/>
          </a:prstGeom>
          <a:ln w="25400">
            <a:solidFill>
              <a:srgbClr val="DBA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35040" y="3611880"/>
            <a:ext cx="4526280" cy="960120"/>
          </a:xfrm>
          <a:prstGeom prst="line">
            <a:avLst/>
          </a:prstGeom>
          <a:ln w="25400">
            <a:solidFill>
              <a:srgbClr val="DBA4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828800" y="56692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9362B"/>
                </a:solidFill>
                <a:latin typeface="Aptos"/>
              </a:defRPr>
            </a:pPr>
            <a:r>
              <a:t>MySQL is the primary relational database for users, projects, verification, listings and transactions.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7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9362B"/>
                </a:solidFill>
                <a:latin typeface="Aptos"/>
              </a:defRPr>
            </a:pPr>
            <a:r>
              <a:t>Database / DBMS Concepts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C6963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C6963"/>
                </a:solidFill>
                <a:latin typeface="Aptos"/>
              </a:defRPr>
            </a:pPr>
            <a:r>
              <a:t>Carbon Credit Management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234440"/>
            <a:ext cx="64008" cy="1828800"/>
          </a:xfrm>
          <a:prstGeom prst="rect">
            <a:avLst/>
          </a:prstGeom>
          <a:solidFill>
            <a:srgbClr val="267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3990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362B"/>
                </a:solidFill>
                <a:latin typeface="Aptos"/>
              </a:defRPr>
            </a:pPr>
            <a:r>
              <a:t>Relational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22860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963"/>
                </a:solidFill>
                <a:latin typeface="Aptos"/>
              </a:defRPr>
            </a:pPr>
            <a:r>
              <a:t>Structured tables connected through PK/FK relationships.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123444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20439" y="1234440"/>
            <a:ext cx="64008" cy="1828800"/>
          </a:xfrm>
          <a:prstGeom prst="rect">
            <a:avLst/>
          </a:prstGeom>
          <a:solidFill>
            <a:srgbClr val="26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03320" y="13990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362B"/>
                </a:solidFill>
                <a:latin typeface="Aptos"/>
              </a:defRPr>
            </a:pPr>
            <a:r>
              <a:t>Constraints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1801368"/>
            <a:ext cx="22860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963"/>
                </a:solidFill>
                <a:latin typeface="Aptos"/>
              </a:defRPr>
            </a:pPr>
            <a:r>
              <a:t>Keys, uniqueness and validation rules.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23444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1234440"/>
            <a:ext cx="64008" cy="1828800"/>
          </a:xfrm>
          <a:prstGeom prst="rect">
            <a:avLst/>
          </a:prstGeom>
          <a:solidFill>
            <a:srgbClr val="DB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13990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362B"/>
                </a:solidFill>
                <a:latin typeface="Aptos"/>
              </a:defRPr>
            </a:pPr>
            <a:r>
              <a:t>Indexes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801368"/>
            <a:ext cx="22860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963"/>
                </a:solidFill>
                <a:latin typeface="Aptos"/>
              </a:defRPr>
            </a:pPr>
            <a:r>
              <a:t>Improve lookup performance.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59" y="123444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81159" y="1234440"/>
            <a:ext cx="64008" cy="1828800"/>
          </a:xfrm>
          <a:prstGeom prst="rect">
            <a:avLst/>
          </a:prstGeom>
          <a:solidFill>
            <a:srgbClr val="267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64039" y="13990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362B"/>
                </a:solidFill>
                <a:latin typeface="Aptos"/>
              </a:defRPr>
            </a:pPr>
            <a:r>
              <a:t>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39" y="1801368"/>
            <a:ext cx="22860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963"/>
                </a:solidFill>
                <a:latin typeface="Aptos"/>
              </a:defRPr>
            </a:pPr>
            <a:r>
              <a:t>Reusable query-based representations.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56616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3566160"/>
            <a:ext cx="64008" cy="1828800"/>
          </a:xfrm>
          <a:prstGeom prst="rect">
            <a:avLst/>
          </a:prstGeom>
          <a:solidFill>
            <a:srgbClr val="26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59" y="37307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362B"/>
                </a:solidFill>
                <a:latin typeface="Aptos"/>
              </a:defRPr>
            </a:pPr>
            <a:r>
              <a:t>Procedures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4133087"/>
            <a:ext cx="22860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963"/>
                </a:solidFill>
                <a:latin typeface="Aptos"/>
              </a:defRPr>
            </a:pPr>
            <a:r>
              <a:t>Encapsulate database operations.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20439" y="356616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520439" y="3566160"/>
            <a:ext cx="64008" cy="1828800"/>
          </a:xfrm>
          <a:prstGeom prst="rect">
            <a:avLst/>
          </a:prstGeom>
          <a:solidFill>
            <a:srgbClr val="DB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03320" y="37307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362B"/>
                </a:solidFill>
                <a:latin typeface="Aptos"/>
              </a:defRPr>
            </a:pPr>
            <a:r>
              <a:t>Triggers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4133087"/>
            <a:ext cx="22860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963"/>
                </a:solidFill>
                <a:latin typeface="Aptos"/>
              </a:defRPr>
            </a:pPr>
            <a:r>
              <a:t>React automatically to database events.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56616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0" y="3566160"/>
            <a:ext cx="64008" cy="1828800"/>
          </a:xfrm>
          <a:prstGeom prst="rect">
            <a:avLst/>
          </a:prstGeom>
          <a:solidFill>
            <a:srgbClr val="267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0" y="37307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362B"/>
                </a:solidFill>
                <a:latin typeface="Aptos"/>
              </a:defRPr>
            </a:pPr>
            <a:r>
              <a:t>Transactions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133087"/>
            <a:ext cx="22860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963"/>
                </a:solidFill>
                <a:latin typeface="Aptos"/>
              </a:defRPr>
            </a:pPr>
            <a:r>
              <a:t>Maintain consistency in purchase operations.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81159" y="3566160"/>
            <a:ext cx="26060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281159" y="3566160"/>
            <a:ext cx="64008" cy="1828800"/>
          </a:xfrm>
          <a:prstGeom prst="rect">
            <a:avLst/>
          </a:prstGeom>
          <a:solidFill>
            <a:srgbClr val="2684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464039" y="37307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362B"/>
                </a:solidFill>
                <a:latin typeface="Aptos"/>
              </a:defRPr>
            </a:pPr>
            <a:r>
              <a:t>Normalization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64039" y="4133087"/>
            <a:ext cx="22860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963"/>
                </a:solidFill>
                <a:latin typeface="Aptos"/>
              </a:defRPr>
            </a:pPr>
            <a:r>
              <a:t>Reduce redundancy and improve integrity.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7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9362B"/>
                </a:solidFill>
                <a:latin typeface="Aptos"/>
              </a:defRPr>
            </a:pPr>
            <a:r>
              <a:t>Current Status &amp; Remaining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C6963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C6963"/>
                </a:solidFill>
                <a:latin typeface="Aptos"/>
              </a:defRPr>
            </a:pPr>
            <a:r>
              <a:t>Carbon Credit Management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34440"/>
            <a:ext cx="53035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0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234440"/>
            <a:ext cx="64008" cy="4526280"/>
          </a:xfrm>
          <a:prstGeom prst="rect">
            <a:avLst/>
          </a:prstGeom>
          <a:solidFill>
            <a:srgbClr val="267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1399032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362B"/>
                </a:solidFill>
                <a:latin typeface="Aptos"/>
              </a:defRPr>
            </a:pPr>
            <a:r>
              <a:t>COMPLETED — CORE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4983480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963"/>
                </a:solidFill>
                <a:latin typeface="Aptos"/>
              </a:defRPr>
            </a:pPr>
            <a:r>
              <a:t>MySQL database and schema</a:t>
            </a:r>
            <a:br/>
            <a:r>
              <a:t/>
            </a:r>
            <a:br/>
            <a:r>
              <a:t>Constraints, indexes, views, procedures and triggers</a:t>
            </a:r>
            <a:br/>
            <a:r>
              <a:t/>
            </a:r>
            <a:br/>
            <a:r>
              <a:t>Backend REST APIs</a:t>
            </a:r>
            <a:br/>
            <a:r>
              <a:t/>
            </a:r>
            <a:br/>
            <a:r>
              <a:t>JWT authentication and role-based access</a:t>
            </a:r>
            <a:br/>
            <a:r>
              <a:t/>
            </a:r>
            <a:br/>
            <a:r>
              <a:t>Seller / project workflow</a:t>
            </a:r>
            <a:br/>
            <a:r>
              <a:t/>
            </a:r>
            <a:br/>
            <a:r>
              <a:t>Verifier workflow</a:t>
            </a:r>
            <a:br/>
            <a:r>
              <a:t/>
            </a:r>
            <a:br/>
            <a:r>
              <a:t>Buyer / marketplace workflow</a:t>
            </a:r>
            <a:br/>
            <a:r>
              <a:t/>
            </a:r>
            <a:br/>
            <a:r>
              <a:t>Transaction history</a:t>
            </a:r>
            <a:br/>
            <a:r>
              <a:t/>
            </a:r>
            <a:br/>
            <a:r>
              <a:t>Frontend integration</a:t>
            </a:r>
            <a:br/>
            <a:r>
              <a:t/>
            </a:r>
            <a:br/>
            <a:r>
              <a:t>GitHub repository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53035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0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64008" cy="4526280"/>
          </a:xfrm>
          <a:prstGeom prst="rect">
            <a:avLst/>
          </a:prstGeom>
          <a:solidFill>
            <a:srgbClr val="DB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399032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362B"/>
                </a:solidFill>
                <a:latin typeface="Aptos"/>
              </a:defRPr>
            </a:pPr>
            <a:r>
              <a:t>PENDING — ADVANCED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01368"/>
            <a:ext cx="4983480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963"/>
                </a:solidFill>
                <a:latin typeface="Aptos"/>
              </a:defRPr>
            </a:pPr>
            <a:r>
              <a:t>Carbon-credit generation integration</a:t>
            </a:r>
            <a:br/>
            <a:r>
              <a:t/>
            </a:r>
            <a:br/>
            <a:r>
              <a:t>Blockchain token minting</a:t>
            </a:r>
            <a:br/>
            <a:r>
              <a:t/>
            </a:r>
            <a:br/>
            <a:r>
              <a:t>Smart contract</a:t>
            </a:r>
            <a:br/>
            <a:r>
              <a:t/>
            </a:r>
            <a:br/>
            <a:r>
              <a:t>Ownership transfer</a:t>
            </a:r>
            <a:br/>
            <a:r>
              <a:t/>
            </a:r>
            <a:br/>
            <a:r>
              <a:t>Credit retirement</a:t>
            </a:r>
            <a:br/>
            <a:r>
              <a:t/>
            </a:r>
            <a:br/>
            <a:r>
              <a:t>AI/ML dataset preparation</a:t>
            </a:r>
            <a:br/>
            <a:r>
              <a:t/>
            </a:r>
            <a:br/>
            <a:r>
              <a:t>Future price prediction</a:t>
            </a:r>
            <a:br/>
            <a:r>
              <a:t/>
            </a:r>
            <a:br/>
            <a:r>
              <a:t>Dynamic pricing / recommendation</a:t>
            </a:r>
            <a:br/>
            <a:r>
              <a:t/>
            </a:r>
            <a:br/>
            <a:r>
              <a:t>Analytics dashboard integration</a:t>
            </a:r>
            <a:br/>
            <a:r>
              <a:t/>
            </a:r>
            <a:br/>
            <a:r>
              <a:t>Public deployment + multi-user testing</a:t>
            </a:r>
            <a:br/>
            <a:r>
              <a:t/>
            </a:r>
            <a:br/>
            <a:r>
              <a:t>Final end-to-end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84949"/>
                </a:solidFill>
                <a:latin typeface="Aptos"/>
              </a:defRPr>
            </a:pPr>
            <a:r>
              <a:t>Current milestone: the MySQL-backed core web application is functional locally; advanced blockchain and AI components remain to be implemented.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7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9362B"/>
                </a:solidFill>
                <a:latin typeface="Aptos"/>
              </a:defRPr>
            </a:pPr>
            <a:r>
              <a:t>Development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5C6963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9144"/>
          </a:xfrm>
          <a:prstGeom prst="rect">
            <a:avLst/>
          </a:prstGeom>
          <a:solidFill>
            <a:srgbClr val="E0E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C6963"/>
                </a:solidFill>
                <a:latin typeface="Aptos"/>
              </a:defRPr>
            </a:pPr>
            <a:r>
              <a:t>Carbon Credit Management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234440"/>
            <a:ext cx="114300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7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9362B"/>
                </a:solidFill>
                <a:latin typeface="Aptos"/>
              </a:defRPr>
            </a:pPr>
            <a:r>
              <a:t>1–12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252728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362B"/>
                </a:solidFill>
                <a:latin typeface="Aptos"/>
              </a:defRPr>
            </a:pPr>
            <a:r>
              <a:t>Core DBMS + Web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25272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67853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984248"/>
            <a:ext cx="114300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9362B"/>
                </a:solidFill>
                <a:latin typeface="Aptos"/>
              </a:defRPr>
            </a:pPr>
            <a:r>
              <a:t>13–17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002536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362B"/>
                </a:solidFill>
                <a:latin typeface="Aptos"/>
              </a:defRPr>
            </a:pPr>
            <a:r>
              <a:t>Blockchain + Tokenization + Retirement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00253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BA441"/>
                </a:solidFill>
                <a:latin typeface="Aptos"/>
              </a:defRPr>
            </a:pPr>
            <a:r>
              <a:t>PENDING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734056"/>
            <a:ext cx="114300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9362B"/>
                </a:solidFill>
                <a:latin typeface="Aptos"/>
              </a:defRPr>
            </a:pPr>
            <a:r>
              <a:t>18–23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752344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362B"/>
                </a:solidFill>
                <a:latin typeface="Aptos"/>
              </a:defRPr>
            </a:pPr>
            <a:r>
              <a:t>AI Dataset + Prediction + Dynamic Pricing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75234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BA441"/>
                </a:solidFill>
                <a:latin typeface="Aptos"/>
              </a:defRPr>
            </a:pPr>
            <a:r>
              <a:t>PENDING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483864"/>
            <a:ext cx="114300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9362B"/>
                </a:solidFill>
                <a:latin typeface="Aptos"/>
              </a:defRPr>
            </a:pPr>
            <a:r>
              <a:t>24–25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3502152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362B"/>
                </a:solidFill>
                <a:latin typeface="Aptos"/>
              </a:defRPr>
            </a:pPr>
            <a:r>
              <a:t>Frontend Analytics + Dashboards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5021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BA441"/>
                </a:solidFill>
                <a:latin typeface="Aptos"/>
              </a:defRPr>
            </a:pPr>
            <a:r>
              <a:t>PARTIALLY PENDING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233672"/>
            <a:ext cx="114300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9362B"/>
                </a:solidFill>
                <a:latin typeface="Aptos"/>
              </a:defRPr>
            </a:pPr>
            <a:r>
              <a:t>26–29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251959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362B"/>
                </a:solidFill>
                <a:latin typeface="Aptos"/>
              </a:defRPr>
            </a:pPr>
            <a:r>
              <a:t>Integration + Testing + Deployment + Documentation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4251959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BA441"/>
                </a:solidFill>
                <a:latin typeface="Aptos"/>
              </a:defRPr>
            </a:pPr>
            <a:r>
              <a:t>PENDING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983479"/>
            <a:ext cx="114300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B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9362B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48840" y="5001767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9362B"/>
                </a:solidFill>
                <a:latin typeface="Aptos"/>
              </a:defRPr>
            </a:pPr>
            <a:r>
              <a:t>Final Presentation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5001767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BA441"/>
                </a:solidFill>
                <a:latin typeface="Aptos"/>
              </a:defRPr>
            </a:pPr>
            <a:r>
              <a:t>PENDING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9362B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67853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3794760"/>
            <a:ext cx="6675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0" y="3794760"/>
            <a:ext cx="64008" cy="1234440"/>
          </a:xfrm>
          <a:prstGeom prst="rect">
            <a:avLst/>
          </a:prstGeom>
          <a:solidFill>
            <a:srgbClr val="267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26080" y="3959352"/>
            <a:ext cx="6355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9362B"/>
                </a:solidFill>
                <a:latin typeface="Aptos"/>
              </a:defRPr>
            </a:pPr>
            <a:r>
              <a:t>Key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4361688"/>
            <a:ext cx="635508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C6963"/>
                </a:solidFill>
                <a:latin typeface="Aptos"/>
              </a:defRPr>
            </a:pPr>
            <a:r>
              <a:t>The MySQL-backed carbon-credit management foundation is implemented; blockchain, AI prediction and final deployment are the next development stages.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819</Words>
  <Application>Microsoft Office PowerPoint</Application>
  <PresentationFormat>Widescreen</PresentationFormat>
  <Paragraphs>176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Carbon Credit Management System — Corrected First Review</dc:title>
  <dc:subject>DBMS, MySQL, Blockchain and AI project presentation</dc:subject>
  <dc:creator>Carbon Credit Management System Project</dc:creator>
  <cp:keywords/>
  <dc:description>generated using python-pptx</dc:description>
  <cp:lastModifiedBy>yamma</cp:lastModifiedBy>
  <cp:revision>7</cp:revision>
  <dcterms:created xsi:type="dcterms:W3CDTF">2013-01-27T09:14:16Z</dcterms:created>
  <dcterms:modified xsi:type="dcterms:W3CDTF">2026-08-15T12:23:34Z</dcterms:modified>
  <cp:category/>
</cp:coreProperties>
</file>